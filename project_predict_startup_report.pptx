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2" r:id="rId1"/>
  </p:sldMasterIdLst>
  <p:notesMasterIdLst>
    <p:notesMasterId r:id="rId23"/>
  </p:notesMasterIdLst>
  <p:handoutMasterIdLst>
    <p:handoutMasterId r:id="rId24"/>
  </p:handoutMasterIdLst>
  <p:sldIdLst>
    <p:sldId id="257" r:id="rId2"/>
    <p:sldId id="292" r:id="rId3"/>
    <p:sldId id="271" r:id="rId4"/>
    <p:sldId id="270" r:id="rId5"/>
    <p:sldId id="308" r:id="rId6"/>
    <p:sldId id="265" r:id="rId7"/>
    <p:sldId id="307" r:id="rId8"/>
    <p:sldId id="261" r:id="rId9"/>
    <p:sldId id="309" r:id="rId10"/>
    <p:sldId id="293" r:id="rId11"/>
    <p:sldId id="310" r:id="rId12"/>
    <p:sldId id="294" r:id="rId13"/>
    <p:sldId id="304" r:id="rId14"/>
    <p:sldId id="306" r:id="rId15"/>
    <p:sldId id="297" r:id="rId16"/>
    <p:sldId id="298" r:id="rId17"/>
    <p:sldId id="305" r:id="rId18"/>
    <p:sldId id="300" r:id="rId19"/>
    <p:sldId id="302" r:id="rId20"/>
    <p:sldId id="303" r:id="rId21"/>
    <p:sldId id="278" r:id="rId22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FCCEFB38-652F-4E7D-B766-45F7F1D0C559}">
          <p14:sldIdLst>
            <p14:sldId id="257"/>
            <p14:sldId id="292"/>
          </p14:sldIdLst>
        </p14:section>
        <p14:section name="Цели и задачи исследования" id="{36430CAE-DCC5-4C38-83ED-1BC79E0EEB38}">
          <p14:sldIdLst>
            <p14:sldId id="271"/>
          </p14:sldIdLst>
        </p14:section>
        <p14:section name="Параметры" id="{7CDC41A0-DEFF-439A-80F1-A74FB2CB8064}">
          <p14:sldIdLst>
            <p14:sldId id="270"/>
            <p14:sldId id="308"/>
          </p14:sldIdLst>
        </p14:section>
        <p14:section name="Целевой признак «STATUS»" id="{F5BC28A7-885C-474B-9B00-495607182F33}">
          <p14:sldIdLst>
            <p14:sldId id="265"/>
          </p14:sldIdLst>
        </p14:section>
        <p14:section name="Параметр «category_list»" id="{246DDB81-9398-4699-9E92-C49417940C48}">
          <p14:sldIdLst>
            <p14:sldId id="307"/>
            <p14:sldId id="261"/>
            <p14:sldId id="309"/>
          </p14:sldIdLst>
        </p14:section>
        <p14:section name="Параметр «country_code»" id="{E26DA35C-537A-4F89-8CBD-59172A40533F}">
          <p14:sldIdLst>
            <p14:sldId id="293"/>
          </p14:sldIdLst>
        </p14:section>
        <p14:section name="Параметр «funding_rounds»" id="{D0A59A48-DBCF-4EAF-8B03-6E4CE111CE1F}">
          <p14:sldIdLst>
            <p14:sldId id="310"/>
            <p14:sldId id="294"/>
          </p14:sldIdLst>
        </p14:section>
        <p14:section name="Параметр «funding_total_usd»" id="{11F2D6DA-023E-400E-AF5A-3CD0DCBE3967}">
          <p14:sldIdLst>
            <p14:sldId id="304"/>
          </p14:sldIdLst>
        </p14:section>
        <p14:section name="Параметр «lifetime»" id="{81D8237E-DAF1-4BCD-BDAB-A2ADC66B4BB3}">
          <p14:sldIdLst>
            <p14:sldId id="306"/>
          </p14:sldIdLst>
        </p14:section>
        <p14:section name="Корреляция параметров" id="{C15792C2-3F80-49E8-85CD-97040E80108A}">
          <p14:sldIdLst>
            <p14:sldId id="297"/>
          </p14:sldIdLst>
        </p14:section>
        <p14:section name="Модель для прогноза статуса стартапа" id="{83EC5B17-91AD-4C64-B656-D6158CD7636E}">
          <p14:sldIdLst>
            <p14:sldId id="298"/>
            <p14:sldId id="305"/>
          </p14:sldIdLst>
        </p14:section>
        <p14:section name="Рекомендации" id="{D259B062-6F38-4E7F-947D-542712033723}">
          <p14:sldIdLst>
            <p14:sldId id="300"/>
            <p14:sldId id="302"/>
            <p14:sldId id="303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79165175259" initials="7" lastIdx="1" clrIdx="0">
    <p:extLst>
      <p:ext uri="{19B8F6BF-5375-455C-9EA6-DF929625EA0E}">
        <p15:presenceInfo xmlns:p15="http://schemas.microsoft.com/office/powerpoint/2012/main" userId="68141492eddace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842" autoAdjust="0"/>
  </p:normalViewPr>
  <p:slideViewPr>
    <p:cSldViewPr snapToGrid="0">
      <p:cViewPr varScale="1">
        <p:scale>
          <a:sx n="81" d="100"/>
          <a:sy n="81" d="100"/>
        </p:scale>
        <p:origin x="754" y="58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4" d="100"/>
          <a:sy n="124" d="100"/>
        </p:scale>
        <p:origin x="49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8.xml"/><Relationship Id="rId13" Type="http://schemas.openxmlformats.org/officeDocument/2006/relationships/slide" Target="slides/slide13.xml"/><Relationship Id="rId18" Type="http://schemas.openxmlformats.org/officeDocument/2006/relationships/slide" Target="slides/slide18.xml"/><Relationship Id="rId3" Type="http://schemas.openxmlformats.org/officeDocument/2006/relationships/slide" Target="slides/slide3.xml"/><Relationship Id="rId21" Type="http://schemas.openxmlformats.org/officeDocument/2006/relationships/slide" Target="slides/slide21.xml"/><Relationship Id="rId7" Type="http://schemas.openxmlformats.org/officeDocument/2006/relationships/slide" Target="slides/slide7.xml"/><Relationship Id="rId12" Type="http://schemas.openxmlformats.org/officeDocument/2006/relationships/slide" Target="slides/slide12.xml"/><Relationship Id="rId17" Type="http://schemas.openxmlformats.org/officeDocument/2006/relationships/slide" Target="slides/slide17.xml"/><Relationship Id="rId2" Type="http://schemas.openxmlformats.org/officeDocument/2006/relationships/slide" Target="slides/slide2.xml"/><Relationship Id="rId16" Type="http://schemas.openxmlformats.org/officeDocument/2006/relationships/slide" Target="slides/slide16.xml"/><Relationship Id="rId20" Type="http://schemas.openxmlformats.org/officeDocument/2006/relationships/slide" Target="slides/slide20.xml"/><Relationship Id="rId1" Type="http://schemas.openxmlformats.org/officeDocument/2006/relationships/slide" Target="slides/slide1.xml"/><Relationship Id="rId6" Type="http://schemas.openxmlformats.org/officeDocument/2006/relationships/slide" Target="slides/slide6.xml"/><Relationship Id="rId11" Type="http://schemas.openxmlformats.org/officeDocument/2006/relationships/slide" Target="slides/slide11.xml"/><Relationship Id="rId5" Type="http://schemas.openxmlformats.org/officeDocument/2006/relationships/slide" Target="slides/slide5.xml"/><Relationship Id="rId15" Type="http://schemas.openxmlformats.org/officeDocument/2006/relationships/slide" Target="slides/slide15.xml"/><Relationship Id="rId10" Type="http://schemas.openxmlformats.org/officeDocument/2006/relationships/slide" Target="slides/slide10.xml"/><Relationship Id="rId19" Type="http://schemas.openxmlformats.org/officeDocument/2006/relationships/slide" Target="slides/slide19.xml"/><Relationship Id="rId4" Type="http://schemas.openxmlformats.org/officeDocument/2006/relationships/slide" Target="slides/slide4.xml"/><Relationship Id="rId9" Type="http://schemas.openxmlformats.org/officeDocument/2006/relationships/slide" Target="slides/slide9.xml"/><Relationship Id="rId14" Type="http://schemas.openxmlformats.org/officeDocument/2006/relationships/slide" Target="slides/slide1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BBE3667-334B-4BAC-BC56-002F9208E878}" type="datetime1">
              <a:rPr lang="ru-RU" smtClean="0"/>
              <a:t>23.04.2025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B7E95EB-10DD-480B-A8EF-FF55F401FAB6}" type="datetime1">
              <a:rPr lang="ru-RU" smtClean="0"/>
              <a:t>23.04.2025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  <a:endParaRPr lang="en-US"/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lang="en-US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0B7E95EB-10DD-480B-A8EF-FF55F401FAB6}" type="datetime1">
              <a:rPr lang="ru-RU" smtClean="0"/>
              <a:t>23.04.2025</a:t>
            </a:fld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B41D33-19C8-4450-B3C5-BE83E9C8F0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379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FCDD9CC-02E6-4B97-B6DA-EEBC5B3B75CA}" type="datetime1">
              <a:rPr lang="ru-RU" smtClean="0"/>
              <a:t>23.04.2025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FE5406A-A8BC-4653-B828-8C959A867CF0}" type="datetime1">
              <a:rPr lang="ru-RU" smtClean="0"/>
              <a:t>23.04.2025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ABF1583-173B-469A-A112-807BD1D0A304}" type="datetime1">
              <a:rPr lang="ru-RU" smtClean="0"/>
              <a:t>23.04.2025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677BEDD-3E98-470F-8147-C5C5F9F2FABE}" type="datetime1">
              <a:rPr lang="ru-RU" smtClean="0"/>
              <a:t>23.04.2025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 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FAB22EB-9437-4B9B-B14F-E3DD07A6BAC8}" type="datetime1">
              <a:rPr lang="ru-RU" smtClean="0"/>
              <a:t>23.04.2025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Номер слайда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 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F393686-DC3E-4FE1-8B32-72EED296FBFB}" type="datetime1">
              <a:rPr lang="ru-RU" smtClean="0"/>
              <a:t>23.04.2025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CDDB9DA-F184-4021-A29A-EB8FFB72146B}" type="datetime1">
              <a:rPr lang="ru-RU" smtClean="0"/>
              <a:t>23.04.2025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 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C81CC67E-7A69-47B0-8EA6-58FF9AA01E3D}" type="datetime1">
              <a:rPr lang="ru-RU" smtClean="0"/>
              <a:t>23.04.2025</a:t>
            </a:fld>
            <a:endParaRPr lang="en-US" dirty="0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Рисунок 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32B7FD4-F436-4D0D-99F1-FA0F9A547542}" type="datetime1">
              <a:rPr lang="ru-RU" smtClean="0"/>
              <a:t>23.04.2025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 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FF6D02B-CB16-4502-B1A8-741DABC6E663}" type="datetime1">
              <a:rPr lang="ru-RU" smtClean="0"/>
              <a:t>23.04.2025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Дата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07EF48-E1FD-4E49-9256-0AD160BB3DE1}" type="datetime1">
              <a:rPr lang="ru-RU" smtClean="0"/>
              <a:t>23.04.2025</a:t>
            </a:fld>
            <a:endParaRPr lang="en-US" dirty="0"/>
          </a:p>
        </p:txBody>
      </p:sp>
      <p:sp>
        <p:nvSpPr>
          <p:cNvPr id="12" name="Нижний колонтитул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"/>
              <a:t>Стиль образца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62FD5BB-B975-49DE-B4E8-D88763020B71}" type="datetime1">
              <a:rPr lang="ru-RU" smtClean="0"/>
              <a:t>23.04.2025</a:t>
            </a:fld>
            <a:endParaRPr lang="en-US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Прямоугольник 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Прямоугольник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Прямоугольник 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13" Type="http://schemas.openxmlformats.org/officeDocument/2006/relationships/slide" Target="slide18.xml"/><Relationship Id="rId3" Type="http://schemas.openxmlformats.org/officeDocument/2006/relationships/slide" Target="slide4.xml"/><Relationship Id="rId7" Type="http://schemas.openxmlformats.org/officeDocument/2006/relationships/slide" Target="slide12.xml"/><Relationship Id="rId12" Type="http://schemas.openxmlformats.org/officeDocument/2006/relationships/slide" Target="slide17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11" Type="http://schemas.openxmlformats.org/officeDocument/2006/relationships/slide" Target="slide16.xml"/><Relationship Id="rId5" Type="http://schemas.openxmlformats.org/officeDocument/2006/relationships/slide" Target="slide7.xml"/><Relationship Id="rId10" Type="http://schemas.openxmlformats.org/officeDocument/2006/relationships/slide" Target="slide15.xml"/><Relationship Id="rId4" Type="http://schemas.openxmlformats.org/officeDocument/2006/relationships/slide" Target="slide6.xml"/><Relationship Id="rId9" Type="http://schemas.openxmlformats.org/officeDocument/2006/relationships/slide" Target="slide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 rtlCol="0">
            <a:normAutofit/>
          </a:bodyPr>
          <a:lstStyle/>
          <a:p>
            <a:pPr algn="ctr" rtl="0"/>
            <a:r>
              <a:rPr lang="ru-RU" b="1" dirty="0">
                <a:solidFill>
                  <a:srgbClr val="0070C0"/>
                </a:solidFill>
              </a:rPr>
              <a:t>Предсказание стартапов</a:t>
            </a:r>
            <a:endParaRPr lang="ru" b="1" dirty="0">
              <a:solidFill>
                <a:srgbClr val="0070C0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 rtlCol="0">
            <a:normAutofit/>
          </a:bodyPr>
          <a:lstStyle/>
          <a:p>
            <a:pPr algn="ctr" rtl="0"/>
            <a:r>
              <a:rPr lang="ru-RU" b="1" dirty="0">
                <a:solidFill>
                  <a:srgbClr val="0070C0"/>
                </a:solidFill>
              </a:rPr>
              <a:t>07.04. 2025</a:t>
            </a:r>
            <a:endParaRPr lang="ru-RU" sz="2200" b="1" dirty="0">
              <a:solidFill>
                <a:srgbClr val="0070C0"/>
              </a:solidFill>
            </a:endParaRPr>
          </a:p>
          <a:p>
            <a:pPr rtl="0"/>
            <a:endParaRPr lang="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Прямоугольник 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Рисунок 5" descr="Крупный план логотипа&#10;&#10;Автоматически созданное описание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4800" y="3105151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B38071-8CFC-493D-A0C8-10AFE1BFE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80236"/>
            <a:ext cx="11029616" cy="498683"/>
          </a:xfrm>
        </p:spPr>
        <p:txBody>
          <a:bodyPr>
            <a:normAutofit/>
          </a:bodyPr>
          <a:lstStyle/>
          <a:p>
            <a:pPr algn="ctr"/>
            <a:r>
              <a:rPr lang="ru-RU" sz="2400" b="1" dirty="0"/>
              <a:t>ОГЛАВЛЕНИЕ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E76D4D-6957-4F74-B792-349A5B19F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FE5406A-A8BC-4653-B828-8C959A867CF0}" type="datetime1">
              <a:rPr lang="ru-RU" smtClean="0"/>
              <a:t>23.04.2025</a:t>
            </a:fld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D1F4307-5C98-447E-BE54-2F7FAA9AC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2</a:t>
            </a:fld>
            <a:endParaRPr lang="en-US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1B51E960-5F7B-64C1-8D95-31019A355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4878" y="1234912"/>
            <a:ext cx="6004874" cy="5189002"/>
          </a:xfrm>
        </p:spPr>
        <p:txBody>
          <a:bodyPr>
            <a:noAutofit/>
          </a:bodyPr>
          <a:lstStyle/>
          <a:p>
            <a:r>
              <a:rPr lang="ru-RU" sz="1800" b="1" dirty="0">
                <a:solidFill>
                  <a:srgbClr val="0070C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Цели и задачи исследования</a:t>
            </a:r>
            <a:endParaRPr lang="ru-RU" sz="1800" b="1" dirty="0">
              <a:solidFill>
                <a:srgbClr val="0070C0"/>
              </a:solidFill>
            </a:endParaRPr>
          </a:p>
          <a:p>
            <a:r>
              <a:rPr lang="ru-RU" sz="1800" b="1" dirty="0">
                <a:solidFill>
                  <a:srgbClr val="0070C0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Параметры</a:t>
            </a:r>
            <a:endParaRPr lang="ru-RU" sz="1800" b="1" dirty="0">
              <a:solidFill>
                <a:srgbClr val="0070C0"/>
              </a:solidFill>
            </a:endParaRPr>
          </a:p>
          <a:p>
            <a:r>
              <a:rPr lang="ru-RU" sz="1800" b="1" dirty="0">
                <a:solidFill>
                  <a:srgbClr val="0070C0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Целевой признак «</a:t>
            </a:r>
            <a:r>
              <a:rPr lang="en-US" sz="1800" b="1" dirty="0">
                <a:solidFill>
                  <a:srgbClr val="0070C0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STATUS»</a:t>
            </a:r>
            <a:endParaRPr lang="ru-RU" sz="1800" b="1" dirty="0">
              <a:solidFill>
                <a:srgbClr val="0070C0"/>
              </a:solidFill>
            </a:endParaRPr>
          </a:p>
          <a:p>
            <a:r>
              <a:rPr lang="ru-RU" sz="1800" b="1" dirty="0">
                <a:solidFill>
                  <a:srgbClr val="0070C0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Параметр «</a:t>
            </a:r>
            <a:r>
              <a:rPr lang="en-US" sz="1800" b="1" dirty="0" err="1">
                <a:solidFill>
                  <a:srgbClr val="0070C0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category_list</a:t>
            </a:r>
            <a:r>
              <a:rPr lang="en-US" sz="1800" b="1" dirty="0">
                <a:solidFill>
                  <a:srgbClr val="0070C0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»</a:t>
            </a:r>
            <a:endParaRPr lang="ru-RU" sz="1800" b="1" dirty="0">
              <a:solidFill>
                <a:srgbClr val="0070C0"/>
              </a:solidFill>
            </a:endParaRPr>
          </a:p>
          <a:p>
            <a:r>
              <a:rPr lang="ru-RU" sz="1800" b="1" dirty="0">
                <a:solidFill>
                  <a:srgbClr val="0070C0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Параметр «</a:t>
            </a:r>
            <a:r>
              <a:rPr lang="en-US" sz="1800" b="1" dirty="0" err="1">
                <a:solidFill>
                  <a:srgbClr val="0070C0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country_code</a:t>
            </a:r>
            <a:r>
              <a:rPr lang="en-US" sz="1800" b="1" dirty="0">
                <a:solidFill>
                  <a:srgbClr val="0070C0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»</a:t>
            </a:r>
            <a:endParaRPr lang="ru-RU" sz="1800" b="1" dirty="0">
              <a:solidFill>
                <a:srgbClr val="0070C0"/>
              </a:solidFill>
            </a:endParaRPr>
          </a:p>
          <a:p>
            <a:r>
              <a:rPr lang="ru-RU" sz="1800" b="1" dirty="0">
                <a:solidFill>
                  <a:srgbClr val="0070C0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Параметр «</a:t>
            </a:r>
            <a:r>
              <a:rPr lang="en-US" sz="1800" b="1" dirty="0" err="1">
                <a:solidFill>
                  <a:srgbClr val="0070C0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funding_rounds</a:t>
            </a:r>
            <a:r>
              <a:rPr lang="en-US" sz="1800" b="1" dirty="0">
                <a:solidFill>
                  <a:srgbClr val="0070C0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»</a:t>
            </a:r>
            <a:endParaRPr lang="ru-RU" sz="1800" b="1" dirty="0">
              <a:solidFill>
                <a:srgbClr val="0070C0"/>
              </a:solidFill>
            </a:endParaRPr>
          </a:p>
          <a:p>
            <a:r>
              <a:rPr lang="ru-RU" sz="1800" b="1" dirty="0">
                <a:solidFill>
                  <a:srgbClr val="0070C0"/>
                </a:solidFill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Параметр «</a:t>
            </a:r>
            <a:r>
              <a:rPr lang="en-US" sz="1800" b="1" dirty="0" err="1">
                <a:solidFill>
                  <a:srgbClr val="0070C0"/>
                </a:solidFill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funding_total_usd</a:t>
            </a:r>
            <a:r>
              <a:rPr lang="en-US" sz="1800" b="1" dirty="0">
                <a:solidFill>
                  <a:srgbClr val="0070C0"/>
                </a:solidFill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»</a:t>
            </a:r>
            <a:endParaRPr lang="ru-RU" sz="1800" b="1" dirty="0">
              <a:solidFill>
                <a:srgbClr val="0070C0"/>
              </a:solidFill>
            </a:endParaRPr>
          </a:p>
          <a:p>
            <a:r>
              <a:rPr lang="ru-RU" sz="1800" b="1" dirty="0">
                <a:solidFill>
                  <a:srgbClr val="0070C0"/>
                </a:solidFill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Параметр «</a:t>
            </a:r>
            <a:r>
              <a:rPr lang="en-US" sz="1800" b="1" dirty="0">
                <a:solidFill>
                  <a:srgbClr val="0070C0"/>
                </a:solidFill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lifetime»</a:t>
            </a:r>
            <a:endParaRPr lang="ru-RU" sz="1800" b="1" dirty="0">
              <a:solidFill>
                <a:srgbClr val="0070C0"/>
              </a:solidFill>
            </a:endParaRPr>
          </a:p>
          <a:p>
            <a:r>
              <a:rPr lang="ru-RU" sz="1800" b="1" dirty="0">
                <a:solidFill>
                  <a:srgbClr val="0070C0"/>
                </a:solidFill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Корреляция параметров</a:t>
            </a:r>
            <a:endParaRPr lang="ru-RU" sz="1800" b="1" dirty="0">
              <a:solidFill>
                <a:srgbClr val="0070C0"/>
              </a:solidFill>
            </a:endParaRPr>
          </a:p>
          <a:p>
            <a:r>
              <a:rPr lang="ru-RU" sz="1800" b="1" dirty="0">
                <a:solidFill>
                  <a:srgbClr val="0070C0"/>
                </a:solidFill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Модель для прогноза статуса стартапа</a:t>
            </a:r>
            <a:endParaRPr lang="ru-RU" sz="1800" b="1" dirty="0">
              <a:solidFill>
                <a:srgbClr val="0070C0"/>
              </a:solidFill>
            </a:endParaRPr>
          </a:p>
          <a:p>
            <a:r>
              <a:rPr lang="ru-RU" sz="1800" b="1" dirty="0">
                <a:solidFill>
                  <a:srgbClr val="0070C0"/>
                </a:solidFill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Важность параметров</a:t>
            </a:r>
            <a:endParaRPr lang="ru-RU" sz="1800" b="1" dirty="0">
              <a:solidFill>
                <a:srgbClr val="0070C0"/>
              </a:solidFill>
            </a:endParaRPr>
          </a:p>
          <a:p>
            <a:r>
              <a:rPr lang="ru-RU" sz="1800" b="1" dirty="0">
                <a:solidFill>
                  <a:srgbClr val="0070C0"/>
                </a:solidFill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Рекомендации</a:t>
            </a:r>
            <a:endParaRPr lang="ru-RU" sz="1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0710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D7C5B5-61DB-4111-AF7F-ACFB6DBAF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5"/>
            <a:ext cx="11029616" cy="732945"/>
          </a:xfrm>
        </p:spPr>
        <p:txBody>
          <a:bodyPr/>
          <a:lstStyle/>
          <a:p>
            <a:pPr algn="ctr"/>
            <a:r>
              <a:rPr lang="ru-RU" b="1" dirty="0">
                <a:solidFill>
                  <a:srgbClr val="0070C0"/>
                </a:solidFill>
              </a:rPr>
              <a:t>Цели и задачи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416332-AD73-4747-8CC6-61AFBCEFD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435101"/>
            <a:ext cx="11029615" cy="4988814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			В данном проекте были рассмотрены псевдо-реальные данные о стартапах, функционировавших в период с 1970 по 2018 годы. Данные представлены в трех файлах. Первый файл содержит тренировочный набор (около 53 тыс. записей), второй файл содержит тестовый набор (около 13 тыс. записей), третий файл показывает пример формата данных на выходе.</a:t>
            </a:r>
          </a:p>
          <a:p>
            <a:pPr algn="l">
              <a:buNone/>
            </a:pPr>
            <a:r>
              <a:rPr lang="ru-RU" sz="2000" b="1" i="0" dirty="0">
                <a:solidFill>
                  <a:srgbClr val="000000"/>
                </a:solidFill>
                <a:effectLst/>
                <a:latin typeface="Helvetica Neue"/>
              </a:rPr>
              <a:t>			Цели проекта:</a:t>
            </a:r>
            <a:endParaRPr lang="ru-RU" sz="2000" b="0" i="0" dirty="0">
              <a:solidFill>
                <a:srgbClr val="000000"/>
              </a:solidFill>
              <a:effectLst/>
              <a:latin typeface="Helvetica Neue"/>
            </a:endParaRPr>
          </a:p>
          <a:p>
            <a:pPr algn="l">
              <a:buFontTx/>
              <a:buChar char="-"/>
            </a:pP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Разработать модель машинного обучения для предсказания продолжения деятельности стартапа.</a:t>
            </a:r>
          </a:p>
          <a:p>
            <a:pPr>
              <a:buFontTx/>
              <a:buChar char="-"/>
            </a:pP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Провести полноценный разведочный анализ и сформировать рекомендации будущим создателям стартапов (какие факторы влияют на успешность стартапа).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EE8777-3850-42C6-A2FB-8C59A2E11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E60767C-F5FC-4DE2-9828-8D2D49C41009}" type="datetime1">
              <a:rPr lang="ru-RU" smtClean="0"/>
              <a:t>23.04.2025</a:t>
            </a:fld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B52F434-860F-43A7-803A-A8A9AB1E8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215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D7C5B5-61DB-4111-AF7F-ACFB6DBAF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466768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</a:rPr>
              <a:t>Параметры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416332-AD73-4747-8CC6-61AFBCEFD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13" y="1168924"/>
            <a:ext cx="10840532" cy="5373278"/>
          </a:xfrm>
        </p:spPr>
        <p:txBody>
          <a:bodyPr>
            <a:noAutofit/>
          </a:bodyPr>
          <a:lstStyle/>
          <a:p>
            <a:pPr algn="just"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000000"/>
                </a:solidFill>
                <a:effectLst/>
                <a:latin typeface="Helvetica Neue"/>
              </a:rPr>
              <a:t>name - </a:t>
            </a:r>
            <a:r>
              <a:rPr lang="ru-RU" sz="1400" b="1" i="0" dirty="0">
                <a:solidFill>
                  <a:srgbClr val="000000"/>
                </a:solidFill>
                <a:effectLst/>
                <a:latin typeface="Helvetica Neue"/>
              </a:rPr>
              <a:t>идентификатор (название) стартапа</a:t>
            </a:r>
          </a:p>
          <a:p>
            <a:pPr algn="just"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000000"/>
                </a:solidFill>
                <a:effectLst/>
                <a:latin typeface="Helvetica Neue"/>
              </a:rPr>
              <a:t>status - </a:t>
            </a:r>
            <a:r>
              <a:rPr lang="ru-RU" sz="1400" b="1" i="0" dirty="0">
                <a:solidFill>
                  <a:srgbClr val="000000"/>
                </a:solidFill>
                <a:effectLst/>
                <a:latin typeface="Helvetica Neue"/>
              </a:rPr>
              <a:t>целевой признак, статус стартапа (закрыт или действующий)</a:t>
            </a:r>
          </a:p>
          <a:p>
            <a:pPr algn="just"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1400" b="1" i="0" dirty="0" err="1">
                <a:solidFill>
                  <a:srgbClr val="000000"/>
                </a:solidFill>
                <a:effectLst/>
                <a:latin typeface="Helvetica Neue"/>
              </a:rPr>
              <a:t>category_list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Helvetica Neue"/>
              </a:rPr>
              <a:t> - </a:t>
            </a:r>
            <a:r>
              <a:rPr lang="ru-RU" sz="1400" b="1" i="0" dirty="0">
                <a:solidFill>
                  <a:srgbClr val="000000"/>
                </a:solidFill>
                <a:effectLst/>
                <a:latin typeface="Helvetica Neue"/>
              </a:rPr>
              <a:t>список категорий, к которым относится стартап</a:t>
            </a:r>
          </a:p>
          <a:p>
            <a:pPr algn="just"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1400" b="1" i="0" dirty="0" err="1">
                <a:solidFill>
                  <a:srgbClr val="000000"/>
                </a:solidFill>
                <a:effectLst/>
                <a:latin typeface="Helvetica Neue"/>
              </a:rPr>
              <a:t>funding_total_usd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Helvetica Neue"/>
              </a:rPr>
              <a:t> - </a:t>
            </a:r>
            <a:r>
              <a:rPr lang="ru-RU" sz="1400" b="1" i="0" dirty="0">
                <a:solidFill>
                  <a:srgbClr val="000000"/>
                </a:solidFill>
                <a:effectLst/>
                <a:latin typeface="Helvetica Neue"/>
              </a:rPr>
              <a:t>общая сумма финансирования в 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Helvetica Neue"/>
              </a:rPr>
              <a:t>USD</a:t>
            </a:r>
          </a:p>
          <a:p>
            <a:pPr algn="just"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1400" b="1" i="0" dirty="0" err="1">
                <a:solidFill>
                  <a:srgbClr val="000000"/>
                </a:solidFill>
                <a:effectLst/>
                <a:latin typeface="Helvetica Neue"/>
              </a:rPr>
              <a:t>country_code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Helvetica Neue"/>
              </a:rPr>
              <a:t> - </a:t>
            </a:r>
            <a:r>
              <a:rPr lang="ru-RU" sz="1400" b="1" i="0" dirty="0">
                <a:solidFill>
                  <a:srgbClr val="000000"/>
                </a:solidFill>
                <a:effectLst/>
                <a:latin typeface="Helvetica Neue"/>
              </a:rPr>
              <a:t>код страны</a:t>
            </a:r>
          </a:p>
          <a:p>
            <a:pPr algn="just"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1400" b="1" i="0" dirty="0" err="1">
                <a:solidFill>
                  <a:srgbClr val="000000"/>
                </a:solidFill>
                <a:effectLst/>
                <a:latin typeface="Helvetica Neue"/>
              </a:rPr>
              <a:t>state_code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Helvetica Neue"/>
              </a:rPr>
              <a:t> - </a:t>
            </a:r>
            <a:r>
              <a:rPr lang="ru-RU" sz="1400" b="1" i="0" dirty="0">
                <a:solidFill>
                  <a:srgbClr val="000000"/>
                </a:solidFill>
                <a:effectLst/>
                <a:latin typeface="Helvetica Neue"/>
              </a:rPr>
              <a:t>код штата</a:t>
            </a:r>
          </a:p>
          <a:p>
            <a:pPr algn="just"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000000"/>
                </a:solidFill>
                <a:effectLst/>
                <a:latin typeface="Helvetica Neue"/>
              </a:rPr>
              <a:t>region - </a:t>
            </a:r>
            <a:r>
              <a:rPr lang="ru-RU" sz="1400" b="1" i="0" dirty="0">
                <a:solidFill>
                  <a:srgbClr val="000000"/>
                </a:solidFill>
                <a:effectLst/>
                <a:latin typeface="Helvetica Neue"/>
              </a:rPr>
              <a:t>регион</a:t>
            </a:r>
          </a:p>
          <a:p>
            <a:pPr algn="just"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000000"/>
                </a:solidFill>
                <a:effectLst/>
                <a:latin typeface="Helvetica Neue"/>
              </a:rPr>
              <a:t>city - </a:t>
            </a:r>
            <a:r>
              <a:rPr lang="ru-RU" sz="1400" b="1" i="0" dirty="0">
                <a:solidFill>
                  <a:srgbClr val="000000"/>
                </a:solidFill>
                <a:effectLst/>
                <a:latin typeface="Helvetica Neue"/>
              </a:rPr>
              <a:t>город</a:t>
            </a:r>
          </a:p>
          <a:p>
            <a:pPr algn="just"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1400" b="1" i="0" dirty="0" err="1">
                <a:solidFill>
                  <a:srgbClr val="000000"/>
                </a:solidFill>
                <a:effectLst/>
                <a:latin typeface="Helvetica Neue"/>
              </a:rPr>
              <a:t>funding_rounds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Helvetica Neue"/>
              </a:rPr>
              <a:t> - </a:t>
            </a:r>
            <a:r>
              <a:rPr lang="ru-RU" sz="1400" b="1" i="0" dirty="0">
                <a:solidFill>
                  <a:srgbClr val="000000"/>
                </a:solidFill>
                <a:effectLst/>
                <a:latin typeface="Helvetica Neue"/>
              </a:rPr>
              <a:t>количество раундов финансирования</a:t>
            </a:r>
          </a:p>
          <a:p>
            <a:pPr algn="just"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1400" b="1" i="0" dirty="0" err="1">
                <a:solidFill>
                  <a:srgbClr val="000000"/>
                </a:solidFill>
                <a:effectLst/>
                <a:latin typeface="Helvetica Neue"/>
              </a:rPr>
              <a:t>founded_at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Helvetica Neue"/>
              </a:rPr>
              <a:t> - </a:t>
            </a:r>
            <a:r>
              <a:rPr lang="ru-RU" sz="1400" b="1" i="0" dirty="0">
                <a:solidFill>
                  <a:srgbClr val="000000"/>
                </a:solidFill>
                <a:effectLst/>
                <a:latin typeface="Helvetica Neue"/>
              </a:rPr>
              <a:t>дата основания</a:t>
            </a:r>
          </a:p>
          <a:p>
            <a:pPr algn="just"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1400" b="1" i="0" dirty="0" err="1">
                <a:solidFill>
                  <a:srgbClr val="000000"/>
                </a:solidFill>
                <a:effectLst/>
                <a:latin typeface="Helvetica Neue"/>
              </a:rPr>
              <a:t>first_funding_at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Helvetica Neue"/>
              </a:rPr>
              <a:t> - </a:t>
            </a:r>
            <a:r>
              <a:rPr lang="ru-RU" sz="1400" b="1" i="0" dirty="0">
                <a:solidFill>
                  <a:srgbClr val="000000"/>
                </a:solidFill>
                <a:effectLst/>
                <a:latin typeface="Helvetica Neue"/>
              </a:rPr>
              <a:t>дата первого раунда финансирования</a:t>
            </a:r>
          </a:p>
          <a:p>
            <a:pPr algn="just"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000000"/>
                </a:solidFill>
                <a:latin typeface="Helvetica Neue"/>
              </a:rPr>
              <a:t>l</a:t>
            </a:r>
            <a:r>
              <a:rPr lang="en-US" sz="1400" b="1" i="0" dirty="0" err="1">
                <a:solidFill>
                  <a:srgbClr val="000000"/>
                </a:solidFill>
                <a:effectLst/>
                <a:latin typeface="Helvetica Neue"/>
              </a:rPr>
              <a:t>ast_</a:t>
            </a:r>
            <a:r>
              <a:rPr lang="en-US" sz="1400" b="1" dirty="0" err="1">
                <a:solidFill>
                  <a:srgbClr val="000000"/>
                </a:solidFill>
                <a:latin typeface="Helvetica Neue"/>
              </a:rPr>
              <a:t>funding_</a:t>
            </a:r>
            <a:r>
              <a:rPr lang="en-US" sz="1400" b="1" i="0" dirty="0" err="1">
                <a:solidFill>
                  <a:srgbClr val="000000"/>
                </a:solidFill>
                <a:effectLst/>
                <a:latin typeface="Helvetica Neue"/>
              </a:rPr>
              <a:t>at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Helvetica Neue"/>
              </a:rPr>
              <a:t> - </a:t>
            </a:r>
            <a:r>
              <a:rPr lang="ru-RU" sz="1400" b="1" i="0" dirty="0">
                <a:solidFill>
                  <a:srgbClr val="000000"/>
                </a:solidFill>
                <a:effectLst/>
                <a:latin typeface="Helvetica Neue"/>
              </a:rPr>
              <a:t>дата последнего раунда финансирования</a:t>
            </a:r>
          </a:p>
          <a:p>
            <a:pPr algn="just"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1400" b="1" i="0" dirty="0" err="1">
                <a:solidFill>
                  <a:srgbClr val="000000"/>
                </a:solidFill>
                <a:effectLst/>
                <a:latin typeface="Helvetica Neue"/>
              </a:rPr>
              <a:t>closed_at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Helvetica Neue"/>
              </a:rPr>
              <a:t> - </a:t>
            </a:r>
            <a:r>
              <a:rPr lang="ru-RU" sz="1400" b="1" i="0" dirty="0">
                <a:solidFill>
                  <a:srgbClr val="000000"/>
                </a:solidFill>
                <a:effectLst/>
                <a:latin typeface="Helvetica Neue"/>
              </a:rPr>
              <a:t>дата закрытия стартапа (если применимо)</a:t>
            </a:r>
          </a:p>
          <a:p>
            <a:pPr algn="just"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000000"/>
                </a:solidFill>
                <a:effectLst/>
                <a:latin typeface="Helvetica Neue"/>
              </a:rPr>
              <a:t>lifetime - </a:t>
            </a:r>
            <a:r>
              <a:rPr lang="ru-RU" sz="1400" b="1" i="0" dirty="0">
                <a:solidFill>
                  <a:srgbClr val="000000"/>
                </a:solidFill>
                <a:effectLst/>
                <a:latin typeface="Helvetica Neue"/>
              </a:rPr>
              <a:t>время существования стартапа в днях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EE8777-3850-42C6-A2FB-8C59A2E11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E60767C-F5FC-4DE2-9828-8D2D49C41009}" type="datetime1">
              <a:rPr lang="ru-RU" smtClean="0"/>
              <a:t>23.04.2025</a:t>
            </a:fld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B52F434-860F-43A7-803A-A8A9AB1E8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280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7A774-686C-14EA-8A8D-1E6166017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503384-23F2-72ED-9849-FB0763368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5"/>
            <a:ext cx="11029616" cy="732945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</a:rPr>
              <a:t>Дополнительные параметры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9D59B0-8D3B-54D5-B58F-86970CD15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679" y="1435101"/>
            <a:ext cx="10096109" cy="4211555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			Для проведения анализа и удобства восприятия практически для всех параметров были созданы дополнительные группировочные параметры, объединяющие значения исходных параметров в группы. </a:t>
            </a:r>
          </a:p>
          <a:p>
            <a:pPr algn="just">
              <a:buNone/>
            </a:pPr>
            <a:r>
              <a:rPr lang="ru-RU" sz="2000" dirty="0">
                <a:solidFill>
                  <a:srgbClr val="000000"/>
                </a:solidFill>
                <a:latin typeface="Helvetica Neue"/>
              </a:rPr>
              <a:t>			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Для количественных параметров были также добавлены параметры с более удобной размерностью. Для денежных показателей - в миллионах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Helvetica Neue"/>
              </a:rPr>
              <a:t>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долларов, для временных параметров - в годах.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83800C-BEE0-A76D-252C-8F51EBC44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E60767C-F5FC-4DE2-9828-8D2D49C41009}" type="datetime1">
              <a:rPr lang="ru-RU" smtClean="0"/>
              <a:t>23.04.2025</a:t>
            </a:fld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F727433-7A86-0EB7-CEF1-A4083ADA7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013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B9E526-CAD2-4574-9556-24BB369F0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581026"/>
            <a:ext cx="9448800" cy="686177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</a:rPr>
              <a:t>Целевой признак «</a:t>
            </a:r>
            <a:r>
              <a:rPr lang="en-US" b="1" dirty="0">
                <a:solidFill>
                  <a:srgbClr val="0070C0"/>
                </a:solidFill>
              </a:rPr>
              <a:t>status</a:t>
            </a:r>
            <a:r>
              <a:rPr lang="ru-RU" b="1" dirty="0">
                <a:solidFill>
                  <a:srgbClr val="0070C0"/>
                </a:solidFill>
              </a:rPr>
              <a:t>»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3AC7DCC-40AA-4F31-8634-17B901F000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93031" y="1580322"/>
            <a:ext cx="4917778" cy="454801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Helvetica Neue"/>
              </a:rPr>
              <a:t>В тренировочных данных есть сведения о 4917 закрытых компаниях, что составляет 9% от общего объема тренировочных данных. Соответственно сведения о действующих компаниях составляют 91% от общего объема данных.</a:t>
            </a:r>
          </a:p>
          <a:p>
            <a:pPr marL="0" indent="0" algn="just">
              <a:buNone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Helvetica Neue"/>
              </a:rPr>
              <a:t>	Таким образом, в тренировочных данных наблюдается дисбаланс классов (закрытых и действующих компаний).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E1644A1-F25D-4FDF-B5A7-3947607AB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4F0D1DA-322B-436F-BB7C-2C6820334CEF}" type="datetime1">
              <a:rPr lang="ru-RU" smtClean="0"/>
              <a:t>23.04.2025</a:t>
            </a:fld>
            <a:endParaRPr lang="en-US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AFD13FE-9173-48EA-A945-112BA0EE4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6</a:t>
            </a:fld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2B10E26-4AA5-209B-BD67-D109272276D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91" y="2017336"/>
            <a:ext cx="6111840" cy="3516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734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84504-98C5-CD21-29EE-DC3C80950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FE28EC-544C-2D64-0527-3C99891FA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581026"/>
            <a:ext cx="9448800" cy="686177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</a:rPr>
              <a:t>Параметр «</a:t>
            </a:r>
            <a:r>
              <a:rPr lang="en-US" b="1" dirty="0" err="1">
                <a:solidFill>
                  <a:srgbClr val="0070C0"/>
                </a:solidFill>
              </a:rPr>
              <a:t>category_list</a:t>
            </a:r>
            <a:r>
              <a:rPr lang="ru-RU" b="1" dirty="0">
                <a:solidFill>
                  <a:srgbClr val="0070C0"/>
                </a:solidFill>
              </a:rPr>
              <a:t>»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0DB3C6E-D4DC-3036-5ED8-62C410E3DA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18515" y="1580322"/>
            <a:ext cx="3692294" cy="4548019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Helvetica Neue"/>
              </a:rPr>
              <a:t>	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Helvetica Neue"/>
              </a:rPr>
              <a:t>	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Параметр </a:t>
            </a:r>
            <a:r>
              <a:rPr lang="ru-RU" sz="2000" b="1" i="0" dirty="0">
                <a:solidFill>
                  <a:srgbClr val="0070C0"/>
                </a:solidFill>
                <a:effectLst/>
                <a:latin typeface="Helvetica Neue"/>
              </a:rPr>
              <a:t>"</a:t>
            </a:r>
            <a:r>
              <a:rPr lang="ru-RU" sz="2000" b="1" i="0" dirty="0" err="1">
                <a:solidFill>
                  <a:srgbClr val="0070C0"/>
                </a:solidFill>
                <a:effectLst/>
                <a:latin typeface="Helvetica Neue"/>
              </a:rPr>
              <a:t>category_list</a:t>
            </a:r>
            <a:r>
              <a:rPr lang="ru-RU" sz="2000" b="1" i="0" dirty="0">
                <a:solidFill>
                  <a:srgbClr val="0070C0"/>
                </a:solidFill>
                <a:effectLst/>
                <a:latin typeface="Helvetica Neue"/>
              </a:rPr>
              <a:t>"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имеет очень много уникальных значений. Многие значения включают в себя не одну, а несколько категорий одновременно.</a:t>
            </a:r>
          </a:p>
          <a:p>
            <a:pPr algn="just">
              <a:buNone/>
            </a:pP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		ТОП-3 групп категорий по количеству компаний: </a:t>
            </a:r>
            <a:r>
              <a:rPr lang="ru-RU" sz="2000" b="1" i="0" dirty="0">
                <a:solidFill>
                  <a:srgbClr val="0070C0"/>
                </a:solidFill>
                <a:effectLst/>
                <a:latin typeface="Helvetica Neue"/>
              </a:rPr>
              <a:t>"</a:t>
            </a:r>
            <a:r>
              <a:rPr lang="ru-RU" sz="2000" b="1" i="0" dirty="0" err="1">
                <a:solidFill>
                  <a:srgbClr val="0070C0"/>
                </a:solidFill>
                <a:effectLst/>
                <a:latin typeface="Helvetica Neue"/>
              </a:rPr>
              <a:t>it</a:t>
            </a:r>
            <a:r>
              <a:rPr lang="ru-RU" sz="2000" b="1" i="0" dirty="0">
                <a:solidFill>
                  <a:srgbClr val="0070C0"/>
                </a:solidFill>
                <a:effectLst/>
                <a:latin typeface="Helvetica Neue"/>
              </a:rPr>
              <a:t>", "</a:t>
            </a:r>
            <a:r>
              <a:rPr lang="ru-RU" sz="2000" b="1" i="0" dirty="0" err="1">
                <a:solidFill>
                  <a:srgbClr val="0070C0"/>
                </a:solidFill>
                <a:effectLst/>
                <a:latin typeface="Helvetica Neue"/>
              </a:rPr>
              <a:t>tec</a:t>
            </a:r>
            <a:r>
              <a:rPr lang="en-US" sz="2000" b="1" i="0" dirty="0" err="1">
                <a:solidFill>
                  <a:srgbClr val="0070C0"/>
                </a:solidFill>
                <a:effectLst/>
                <a:latin typeface="Helvetica Neue"/>
              </a:rPr>
              <a:t>hn</a:t>
            </a:r>
            <a:r>
              <a:rPr lang="ru-RU" sz="2000" b="1" i="0" dirty="0" err="1">
                <a:solidFill>
                  <a:srgbClr val="0070C0"/>
                </a:solidFill>
                <a:effectLst/>
                <a:latin typeface="Helvetica Neue"/>
              </a:rPr>
              <a:t>ology</a:t>
            </a:r>
            <a:r>
              <a:rPr lang="ru-RU" sz="2000" b="1" i="0" dirty="0">
                <a:solidFill>
                  <a:srgbClr val="0070C0"/>
                </a:solidFill>
                <a:effectLst/>
                <a:latin typeface="Helvetica Neue"/>
              </a:rPr>
              <a:t>" и "</a:t>
            </a:r>
            <a:r>
              <a:rPr lang="ru-RU" sz="2000" b="1" i="0" dirty="0" err="1">
                <a:solidFill>
                  <a:srgbClr val="0070C0"/>
                </a:solidFill>
                <a:effectLst/>
                <a:latin typeface="Helvetica Neue"/>
              </a:rPr>
              <a:t>trade</a:t>
            </a:r>
            <a:r>
              <a:rPr lang="ru-RU" sz="2000" b="1" i="0" dirty="0">
                <a:solidFill>
                  <a:srgbClr val="0070C0"/>
                </a:solidFill>
                <a:effectLst/>
                <a:latin typeface="Helvetica Neue"/>
              </a:rPr>
              <a:t>".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680032-0F14-10B5-4BD8-49790707F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4F0D1DA-322B-436F-BB7C-2C6820334CEF}" type="datetime1">
              <a:rPr lang="ru-RU" smtClean="0"/>
              <a:t>23.04.2025</a:t>
            </a:fld>
            <a:endParaRPr lang="en-US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FCB2B9A-3F88-531B-DA8B-967D6D16D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7</a:t>
            </a:fld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357651B-498C-DA7E-C563-DDE8F0BB980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508289"/>
            <a:ext cx="7658002" cy="4768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2401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A4E643-006D-47C9-92C0-B55FE908A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750351"/>
          </a:xfrm>
        </p:spPr>
        <p:txBody>
          <a:bodyPr>
            <a:no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</a:rPr>
              <a:t>Параметр «</a:t>
            </a:r>
            <a:r>
              <a:rPr lang="en-US" b="1" dirty="0" err="1">
                <a:solidFill>
                  <a:srgbClr val="0070C0"/>
                </a:solidFill>
              </a:rPr>
              <a:t>category_list</a:t>
            </a:r>
            <a:r>
              <a:rPr lang="ru-RU" b="1" dirty="0">
                <a:solidFill>
                  <a:srgbClr val="0070C0"/>
                </a:solidFill>
              </a:rPr>
              <a:t>»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2558CE8-580F-4E8E-B2C7-9AFDD4F89D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516" y="2036190"/>
            <a:ext cx="10858968" cy="3831544"/>
          </a:xfrm>
        </p:spPr>
        <p:txBody>
          <a:bodyPr>
            <a:normAutofit fontScale="92500"/>
          </a:bodyPr>
          <a:lstStyle/>
          <a:p>
            <a:pPr algn="just">
              <a:buNone/>
            </a:pPr>
            <a:r>
              <a:rPr lang="ru-RU" sz="1400" b="0" i="0" dirty="0">
                <a:solidFill>
                  <a:srgbClr val="000000"/>
                </a:solidFill>
                <a:effectLst/>
                <a:latin typeface="Helvetica Neue"/>
              </a:rPr>
              <a:t>			</a:t>
            </a:r>
            <a:r>
              <a:rPr lang="ru-RU" sz="2600" b="0" i="0" dirty="0">
                <a:solidFill>
                  <a:srgbClr val="000000"/>
                </a:solidFill>
                <a:effectLst/>
                <a:latin typeface="Helvetica Neue"/>
              </a:rPr>
              <a:t>Самый большой средний объем финансирования среди закрытых и действующих компаний у компаний в области </a:t>
            </a:r>
            <a:r>
              <a:rPr lang="ru-RU" sz="2600" b="1" i="0" dirty="0">
                <a:solidFill>
                  <a:srgbClr val="0070C0"/>
                </a:solidFill>
                <a:effectLst/>
                <a:latin typeface="Helvetica Neue"/>
              </a:rPr>
              <a:t>"</a:t>
            </a:r>
            <a:r>
              <a:rPr lang="ru-RU" sz="2600" b="1" i="0" dirty="0" err="1">
                <a:solidFill>
                  <a:srgbClr val="0070C0"/>
                </a:solidFill>
                <a:effectLst/>
                <a:latin typeface="Helvetica Neue"/>
              </a:rPr>
              <a:t>energy</a:t>
            </a:r>
            <a:r>
              <a:rPr lang="ru-RU" sz="2600" b="1" i="0" dirty="0">
                <a:solidFill>
                  <a:srgbClr val="0070C0"/>
                </a:solidFill>
                <a:effectLst/>
                <a:latin typeface="Helvetica Neue"/>
              </a:rPr>
              <a:t>" и "</a:t>
            </a:r>
            <a:r>
              <a:rPr lang="ru-RU" sz="2600" b="1" i="0" dirty="0" err="1">
                <a:solidFill>
                  <a:srgbClr val="0070C0"/>
                </a:solidFill>
                <a:effectLst/>
                <a:latin typeface="Helvetica Neue"/>
              </a:rPr>
              <a:t>technology</a:t>
            </a:r>
            <a:r>
              <a:rPr lang="ru-RU" sz="2600" b="1" i="0" dirty="0">
                <a:solidFill>
                  <a:srgbClr val="0070C0"/>
                </a:solidFill>
                <a:effectLst/>
                <a:latin typeface="Helvetica Neue"/>
              </a:rPr>
              <a:t>"</a:t>
            </a:r>
            <a:r>
              <a:rPr lang="ru-RU" sz="2600" b="0" i="0" dirty="0">
                <a:solidFill>
                  <a:srgbClr val="000000"/>
                </a:solidFill>
                <a:effectLst/>
                <a:latin typeface="Helvetica Neue"/>
              </a:rPr>
              <a:t>. </a:t>
            </a:r>
            <a:endParaRPr lang="en-US" sz="2600" b="0" i="0" dirty="0">
              <a:solidFill>
                <a:srgbClr val="000000"/>
              </a:solidFill>
              <a:effectLst/>
              <a:latin typeface="Helvetica Neue"/>
            </a:endParaRPr>
          </a:p>
          <a:p>
            <a:pPr algn="just">
              <a:buNone/>
            </a:pPr>
            <a:r>
              <a:rPr lang="en-US" sz="2600" dirty="0">
                <a:solidFill>
                  <a:srgbClr val="000000"/>
                </a:solidFill>
                <a:latin typeface="Helvetica Neue"/>
              </a:rPr>
              <a:t>			</a:t>
            </a:r>
            <a:r>
              <a:rPr lang="ru-RU" sz="2600" b="0" i="0" dirty="0">
                <a:solidFill>
                  <a:srgbClr val="000000"/>
                </a:solidFill>
                <a:effectLst/>
                <a:latin typeface="Helvetica Neue"/>
              </a:rPr>
              <a:t>Самое большое среднее количество раундов финансирования среди закрытых компаний у компаний в области </a:t>
            </a:r>
            <a:r>
              <a:rPr lang="ru-RU" sz="2600" b="1" i="0" dirty="0">
                <a:solidFill>
                  <a:srgbClr val="0070C0"/>
                </a:solidFill>
                <a:effectLst/>
                <a:latin typeface="Helvetica Neue"/>
              </a:rPr>
              <a:t>"</a:t>
            </a:r>
            <a:r>
              <a:rPr lang="ru-RU" sz="2600" b="1" i="0" dirty="0" err="1">
                <a:solidFill>
                  <a:srgbClr val="0070C0"/>
                </a:solidFill>
                <a:effectLst/>
                <a:latin typeface="Helvetica Neue"/>
              </a:rPr>
              <a:t>restaurant</a:t>
            </a:r>
            <a:r>
              <a:rPr lang="ru-RU" sz="2600" b="1" i="0" dirty="0">
                <a:solidFill>
                  <a:srgbClr val="0070C0"/>
                </a:solidFill>
                <a:effectLst/>
                <a:latin typeface="Helvetica Neue"/>
              </a:rPr>
              <a:t>" </a:t>
            </a:r>
            <a:r>
              <a:rPr lang="ru-RU" sz="2600" b="0" i="0" dirty="0">
                <a:solidFill>
                  <a:srgbClr val="000000"/>
                </a:solidFill>
                <a:effectLst/>
                <a:latin typeface="Helvetica Neue"/>
              </a:rPr>
              <a:t>(ресторанный бизнес). </a:t>
            </a:r>
            <a:endParaRPr lang="en-US" sz="2600" b="0" i="0" dirty="0">
              <a:solidFill>
                <a:srgbClr val="000000"/>
              </a:solidFill>
              <a:effectLst/>
              <a:latin typeface="Helvetica Neue"/>
            </a:endParaRPr>
          </a:p>
          <a:p>
            <a:pPr algn="just">
              <a:buNone/>
            </a:pPr>
            <a:r>
              <a:rPr lang="en-US" sz="2600" b="0" i="0" dirty="0">
                <a:solidFill>
                  <a:srgbClr val="000000"/>
                </a:solidFill>
                <a:effectLst/>
                <a:latin typeface="Helvetica Neue"/>
              </a:rPr>
              <a:t>			</a:t>
            </a:r>
            <a:r>
              <a:rPr lang="ru-RU" sz="2600" b="0" i="0" dirty="0">
                <a:solidFill>
                  <a:srgbClr val="000000"/>
                </a:solidFill>
                <a:effectLst/>
                <a:latin typeface="Helvetica Neue"/>
              </a:rPr>
              <a:t>Самое большое среднее количество раундов финансирования среди действующих компаний у компаний в области </a:t>
            </a:r>
            <a:r>
              <a:rPr lang="ru-RU" sz="2600" b="1" i="0" dirty="0">
                <a:solidFill>
                  <a:srgbClr val="0070C0"/>
                </a:solidFill>
                <a:effectLst/>
                <a:latin typeface="Helvetica Neue"/>
              </a:rPr>
              <a:t>"</a:t>
            </a:r>
            <a:r>
              <a:rPr lang="ru-RU" sz="2600" b="1" i="0" dirty="0" err="1">
                <a:solidFill>
                  <a:srgbClr val="0070C0"/>
                </a:solidFill>
                <a:effectLst/>
                <a:latin typeface="Helvetica Neue"/>
              </a:rPr>
              <a:t>technology</a:t>
            </a:r>
            <a:r>
              <a:rPr lang="ru-RU" sz="2600" b="1" i="0" dirty="0">
                <a:solidFill>
                  <a:srgbClr val="0070C0"/>
                </a:solidFill>
                <a:effectLst/>
                <a:latin typeface="Helvetica Neue"/>
              </a:rPr>
              <a:t>" </a:t>
            </a:r>
            <a:r>
              <a:rPr lang="ru-RU" sz="2600" b="0" i="0" dirty="0">
                <a:solidFill>
                  <a:srgbClr val="000000"/>
                </a:solidFill>
                <a:effectLst/>
                <a:latin typeface="Helvetica Neue"/>
              </a:rPr>
              <a:t>(технологии).</a:t>
            </a:r>
            <a:endParaRPr lang="ru-RU" sz="3400" b="0" i="0" dirty="0">
              <a:solidFill>
                <a:srgbClr val="000000"/>
              </a:solidFill>
              <a:effectLst/>
              <a:latin typeface="Helvetica Neue"/>
            </a:endParaRP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AC93D0E-B876-435D-97EB-E0738A928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1878373-A85A-4676-928C-AA47F9F73311}" type="datetime1">
              <a:rPr lang="ru-RU" smtClean="0"/>
              <a:t>23.04.2025</a:t>
            </a:fld>
            <a:endParaRPr lang="en-US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0979613-D927-4515-9AAE-4E6990AAD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180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3CB35-513F-4ED4-8B06-752BA52F2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516BCB-4ED5-DEC1-910C-F87B2F76E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514679"/>
          </a:xfrm>
        </p:spPr>
        <p:txBody>
          <a:bodyPr>
            <a:no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</a:rPr>
              <a:t>Параметр «</a:t>
            </a:r>
            <a:r>
              <a:rPr lang="en-US" b="1" dirty="0" err="1">
                <a:solidFill>
                  <a:srgbClr val="0070C0"/>
                </a:solidFill>
              </a:rPr>
              <a:t>category_list</a:t>
            </a:r>
            <a:r>
              <a:rPr lang="ru-RU" b="1" dirty="0">
                <a:solidFill>
                  <a:srgbClr val="0070C0"/>
                </a:solidFill>
              </a:rPr>
              <a:t>»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94C1983-5CBD-DC0E-C536-601A88A703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1840" y="1244338"/>
            <a:ext cx="10858968" cy="5179577"/>
          </a:xfrm>
        </p:spPr>
        <p:txBody>
          <a:bodyPr>
            <a:normAutofit fontScale="77500" lnSpcReduction="20000"/>
          </a:bodyPr>
          <a:lstStyle/>
          <a:p>
            <a:pPr algn="just">
              <a:buNone/>
            </a:pPr>
            <a:r>
              <a:rPr lang="ru-RU" sz="1400" b="0" i="0" dirty="0">
                <a:solidFill>
                  <a:srgbClr val="000000"/>
                </a:solidFill>
                <a:effectLst/>
                <a:latin typeface="Helvetica Neue"/>
              </a:rPr>
              <a:t>			</a:t>
            </a:r>
            <a:r>
              <a:rPr lang="ru-RU" sz="2900" dirty="0">
                <a:solidFill>
                  <a:srgbClr val="000000"/>
                </a:solidFill>
                <a:latin typeface="Helvetica Neue"/>
              </a:rPr>
              <a:t>Са</a:t>
            </a:r>
            <a:r>
              <a:rPr lang="ru-RU" sz="2900" b="0" i="0" dirty="0">
                <a:solidFill>
                  <a:srgbClr val="000000"/>
                </a:solidFill>
                <a:effectLst/>
                <a:latin typeface="Helvetica Neue"/>
              </a:rPr>
              <a:t>мая большая средняя продолжительность деятельности среди закрытых компаний у компаний в области </a:t>
            </a:r>
            <a:r>
              <a:rPr lang="ru-RU" sz="2900" b="1" i="0" dirty="0">
                <a:solidFill>
                  <a:srgbClr val="0070C0"/>
                </a:solidFill>
                <a:effectLst/>
                <a:latin typeface="Helvetica Neue"/>
              </a:rPr>
              <a:t>"</a:t>
            </a:r>
            <a:r>
              <a:rPr lang="ru-RU" sz="2900" b="1" i="0" dirty="0" err="1">
                <a:solidFill>
                  <a:srgbClr val="0070C0"/>
                </a:solidFill>
                <a:effectLst/>
                <a:latin typeface="Helvetica Neue"/>
              </a:rPr>
              <a:t>technology</a:t>
            </a:r>
            <a:r>
              <a:rPr lang="ru-RU" sz="2900" b="1" i="0" dirty="0">
                <a:solidFill>
                  <a:srgbClr val="0070C0"/>
                </a:solidFill>
                <a:effectLst/>
                <a:latin typeface="Helvetica Neue"/>
              </a:rPr>
              <a:t>" и "</a:t>
            </a:r>
            <a:r>
              <a:rPr lang="ru-RU" sz="2900" b="1" i="0" dirty="0" err="1">
                <a:solidFill>
                  <a:srgbClr val="0070C0"/>
                </a:solidFill>
                <a:effectLst/>
                <a:latin typeface="Helvetica Neue"/>
              </a:rPr>
              <a:t>energy</a:t>
            </a:r>
            <a:r>
              <a:rPr lang="ru-RU" sz="2900" b="1" i="0" dirty="0">
                <a:solidFill>
                  <a:srgbClr val="0070C0"/>
                </a:solidFill>
                <a:effectLst/>
                <a:latin typeface="Helvetica Neue"/>
              </a:rPr>
              <a:t>" </a:t>
            </a:r>
            <a:r>
              <a:rPr lang="ru-RU" sz="2900" b="0" i="0" dirty="0">
                <a:solidFill>
                  <a:srgbClr val="000000"/>
                </a:solidFill>
                <a:effectLst/>
                <a:latin typeface="Helvetica Neue"/>
              </a:rPr>
              <a:t>(технологии и энергетика). Что касается действующих компаний, то самая большая средняя продолжительность деятельности у компаний в области </a:t>
            </a:r>
            <a:r>
              <a:rPr lang="ru-RU" sz="2900" b="1" i="0" dirty="0">
                <a:solidFill>
                  <a:srgbClr val="0070C0"/>
                </a:solidFill>
                <a:effectLst/>
                <a:latin typeface="Helvetica Neue"/>
              </a:rPr>
              <a:t>"</a:t>
            </a:r>
            <a:r>
              <a:rPr lang="ru-RU" sz="2900" b="1" i="0" dirty="0" err="1">
                <a:solidFill>
                  <a:srgbClr val="0070C0"/>
                </a:solidFill>
                <a:effectLst/>
                <a:latin typeface="Helvetica Neue"/>
              </a:rPr>
              <a:t>technology</a:t>
            </a:r>
            <a:r>
              <a:rPr lang="ru-RU" sz="2900" b="1" i="0" dirty="0">
                <a:solidFill>
                  <a:srgbClr val="0070C0"/>
                </a:solidFill>
                <a:effectLst/>
                <a:latin typeface="Helvetica Neue"/>
              </a:rPr>
              <a:t>" и "</a:t>
            </a:r>
            <a:r>
              <a:rPr lang="ru-RU" sz="2900" b="1" i="0" dirty="0" err="1">
                <a:solidFill>
                  <a:srgbClr val="0070C0"/>
                </a:solidFill>
                <a:effectLst/>
                <a:latin typeface="Helvetica Neue"/>
              </a:rPr>
              <a:t>security</a:t>
            </a:r>
            <a:r>
              <a:rPr lang="ru-RU" sz="2900" b="1" i="0" dirty="0">
                <a:solidFill>
                  <a:srgbClr val="0070C0"/>
                </a:solidFill>
                <a:effectLst/>
                <a:latin typeface="Helvetica Neue"/>
              </a:rPr>
              <a:t>" </a:t>
            </a:r>
            <a:r>
              <a:rPr lang="ru-RU" sz="2900" b="0" i="0" dirty="0">
                <a:solidFill>
                  <a:srgbClr val="000000"/>
                </a:solidFill>
                <a:effectLst/>
                <a:latin typeface="Helvetica Neue"/>
              </a:rPr>
              <a:t>(технологии и безопасность).</a:t>
            </a:r>
          </a:p>
          <a:p>
            <a:pPr algn="just">
              <a:buNone/>
            </a:pPr>
            <a:r>
              <a:rPr lang="ru-RU" sz="2900" b="0" i="0" dirty="0">
                <a:solidFill>
                  <a:srgbClr val="000000"/>
                </a:solidFill>
                <a:effectLst/>
                <a:latin typeface="Helvetica Neue"/>
              </a:rPr>
              <a:t>			Самая маленькая средняя продолжительность деятельности среди закрытых компаний у компаний в области </a:t>
            </a:r>
            <a:r>
              <a:rPr lang="ru-RU" sz="2900" b="1" i="0" dirty="0">
                <a:solidFill>
                  <a:srgbClr val="FF0000"/>
                </a:solidFill>
                <a:effectLst/>
                <a:latin typeface="Helvetica Neue"/>
              </a:rPr>
              <a:t>"</a:t>
            </a:r>
            <a:r>
              <a:rPr lang="ru-RU" sz="2900" b="1" i="0" dirty="0" err="1">
                <a:solidFill>
                  <a:srgbClr val="FF0000"/>
                </a:solidFill>
                <a:effectLst/>
                <a:latin typeface="Helvetica Neue"/>
              </a:rPr>
              <a:t>real_estate</a:t>
            </a:r>
            <a:r>
              <a:rPr lang="ru-RU" sz="2900" b="1" i="0" dirty="0">
                <a:solidFill>
                  <a:srgbClr val="FF0000"/>
                </a:solidFill>
                <a:effectLst/>
                <a:latin typeface="Helvetica Neue"/>
              </a:rPr>
              <a:t>" </a:t>
            </a:r>
            <a:r>
              <a:rPr lang="ru-RU" sz="2900" b="0" i="0" dirty="0">
                <a:solidFill>
                  <a:srgbClr val="000000"/>
                </a:solidFill>
                <a:effectLst/>
                <a:latin typeface="Helvetica Neue"/>
              </a:rPr>
              <a:t>(недвижимость). Что касается действующих компаний, то самая маленькая средняя продолжительность деятельности у компаний в области </a:t>
            </a:r>
            <a:r>
              <a:rPr lang="ru-RU" sz="2900" b="1" i="0" dirty="0">
                <a:solidFill>
                  <a:srgbClr val="FF0000"/>
                </a:solidFill>
                <a:effectLst/>
                <a:latin typeface="Helvetica Neue"/>
              </a:rPr>
              <a:t>"</a:t>
            </a:r>
            <a:r>
              <a:rPr lang="ru-RU" sz="2900" b="1" i="0" dirty="0" err="1">
                <a:solidFill>
                  <a:srgbClr val="FF0000"/>
                </a:solidFill>
                <a:effectLst/>
                <a:latin typeface="Helvetica Neue"/>
              </a:rPr>
              <a:t>pet</a:t>
            </a:r>
            <a:r>
              <a:rPr lang="ru-RU" sz="2900" b="1" i="0" dirty="0">
                <a:solidFill>
                  <a:srgbClr val="FF0000"/>
                </a:solidFill>
                <a:effectLst/>
                <a:latin typeface="Helvetica Neue"/>
              </a:rPr>
              <a:t>" </a:t>
            </a:r>
            <a:r>
              <a:rPr lang="ru-RU" sz="2900" b="0" i="0" dirty="0">
                <a:solidFill>
                  <a:srgbClr val="000000"/>
                </a:solidFill>
                <a:effectLst/>
                <a:latin typeface="Helvetica Neue"/>
              </a:rPr>
              <a:t>(животные).</a:t>
            </a:r>
          </a:p>
          <a:p>
            <a:pPr algn="just">
              <a:buNone/>
            </a:pPr>
            <a:r>
              <a:rPr lang="ru-RU" sz="2900" dirty="0">
                <a:solidFill>
                  <a:srgbClr val="000000"/>
                </a:solidFill>
                <a:latin typeface="Helvetica Neue"/>
              </a:rPr>
              <a:t>			</a:t>
            </a:r>
            <a:r>
              <a:rPr lang="ru-RU" sz="2900" b="0" i="0" dirty="0">
                <a:solidFill>
                  <a:srgbClr val="000000"/>
                </a:solidFill>
                <a:effectLst/>
                <a:latin typeface="Helvetica Neue"/>
              </a:rPr>
              <a:t>В области </a:t>
            </a:r>
            <a:r>
              <a:rPr lang="ru-RU" sz="2900" b="1" i="0" dirty="0">
                <a:solidFill>
                  <a:srgbClr val="0070C0"/>
                </a:solidFill>
                <a:effectLst/>
                <a:latin typeface="Helvetica Neue"/>
              </a:rPr>
              <a:t>"</a:t>
            </a:r>
            <a:r>
              <a:rPr lang="ru-RU" sz="2900" b="1" i="0" dirty="0" err="1">
                <a:solidFill>
                  <a:srgbClr val="0070C0"/>
                </a:solidFill>
                <a:effectLst/>
                <a:latin typeface="Helvetica Neue"/>
              </a:rPr>
              <a:t>technology</a:t>
            </a:r>
            <a:r>
              <a:rPr lang="ru-RU" sz="2900" b="1" i="0" dirty="0">
                <a:solidFill>
                  <a:srgbClr val="0070C0"/>
                </a:solidFill>
                <a:effectLst/>
                <a:latin typeface="Helvetica Neue"/>
              </a:rPr>
              <a:t>" </a:t>
            </a:r>
            <a:r>
              <a:rPr lang="ru-RU" sz="2900" b="0" i="0" dirty="0">
                <a:solidFill>
                  <a:srgbClr val="000000"/>
                </a:solidFill>
                <a:effectLst/>
                <a:latin typeface="Helvetica Neue"/>
              </a:rPr>
              <a:t>средняя продолжительность деятельности составляет порядка </a:t>
            </a:r>
            <a:r>
              <a:rPr lang="ru-RU" sz="2900" b="1" i="0" dirty="0">
                <a:solidFill>
                  <a:srgbClr val="0070C0"/>
                </a:solidFill>
                <a:effectLst/>
                <a:latin typeface="Helvetica Neue"/>
              </a:rPr>
              <a:t>5,5 лет </a:t>
            </a:r>
            <a:r>
              <a:rPr lang="ru-RU" sz="2900" b="0" i="0" dirty="0">
                <a:solidFill>
                  <a:srgbClr val="000000"/>
                </a:solidFill>
                <a:effectLst/>
                <a:latin typeface="Helvetica Neue"/>
              </a:rPr>
              <a:t>для закрытых компаний и порядка </a:t>
            </a:r>
            <a:r>
              <a:rPr lang="ru-RU" sz="2900" b="1" i="0" dirty="0">
                <a:solidFill>
                  <a:srgbClr val="0070C0"/>
                </a:solidFill>
                <a:effectLst/>
                <a:latin typeface="Helvetica Neue"/>
              </a:rPr>
              <a:t>10 лет </a:t>
            </a:r>
            <a:r>
              <a:rPr lang="ru-RU" sz="2900" b="0" i="0" dirty="0">
                <a:solidFill>
                  <a:srgbClr val="000000"/>
                </a:solidFill>
                <a:effectLst/>
                <a:latin typeface="Helvetica Neue"/>
              </a:rPr>
              <a:t>для действующих компаний.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A8EF1C6-1E97-3F87-316A-96A3C0826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1878373-A85A-4676-928C-AA47F9F73311}" type="datetime1">
              <a:rPr lang="ru-RU" smtClean="0"/>
              <a:t>23.04.2025</a:t>
            </a:fld>
            <a:endParaRPr lang="en-US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840ED15-28FC-E412-F0E0-E59EF89E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336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29D2D-599E-A93B-B4BD-E779E2D41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2214A8-2CF9-4589-3628-EB1BC7B99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524106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</a:rPr>
              <a:t>Параметр «</a:t>
            </a:r>
            <a:r>
              <a:rPr lang="en-US" b="1" dirty="0" err="1">
                <a:solidFill>
                  <a:srgbClr val="0070C0"/>
                </a:solidFill>
              </a:rPr>
              <a:t>country_code</a:t>
            </a:r>
            <a:r>
              <a:rPr lang="ru-RU" b="1" dirty="0">
                <a:solidFill>
                  <a:srgbClr val="0070C0"/>
                </a:solidFill>
              </a:rPr>
              <a:t>»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5D474CD-8E4E-CEA0-4FDB-6BA45CCB7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1840" y="1159497"/>
            <a:ext cx="10858968" cy="5420412"/>
          </a:xfrm>
        </p:spPr>
        <p:txBody>
          <a:bodyPr>
            <a:normAutofit fontScale="62500" lnSpcReduction="20000"/>
          </a:bodyPr>
          <a:lstStyle/>
          <a:p>
            <a:pPr algn="just">
              <a:buNone/>
            </a:pPr>
            <a:r>
              <a:rPr lang="ru-RU" sz="3600" b="0" i="0" dirty="0">
                <a:solidFill>
                  <a:srgbClr val="000000"/>
                </a:solidFill>
                <a:effectLst/>
                <a:latin typeface="Helvetica Neue"/>
              </a:rPr>
              <a:t>			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Helvetica Neue"/>
              </a:rPr>
              <a:t>Параметр </a:t>
            </a:r>
            <a:r>
              <a:rPr lang="ru-RU" sz="4000" b="1" i="0" dirty="0">
                <a:solidFill>
                  <a:srgbClr val="0070C0"/>
                </a:solidFill>
                <a:effectLst/>
                <a:latin typeface="Helvetica Neue"/>
              </a:rPr>
              <a:t>"</a:t>
            </a:r>
            <a:r>
              <a:rPr lang="ru-RU" sz="4000" b="1" i="0" dirty="0" err="1">
                <a:solidFill>
                  <a:srgbClr val="0070C0"/>
                </a:solidFill>
                <a:effectLst/>
                <a:latin typeface="Helvetica Neue"/>
              </a:rPr>
              <a:t>country_code</a:t>
            </a:r>
            <a:r>
              <a:rPr lang="ru-RU" sz="4000" b="1" i="0" dirty="0">
                <a:solidFill>
                  <a:srgbClr val="0070C0"/>
                </a:solidFill>
                <a:effectLst/>
                <a:latin typeface="Helvetica Neue"/>
              </a:rPr>
              <a:t>" 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Helvetica Neue"/>
              </a:rPr>
              <a:t>имеет гораздо меньше уникальных значений. Кодов стран не так много и здесь больше порядка в значениях (каждой стране соответствует только один код).</a:t>
            </a:r>
            <a:endParaRPr lang="en-US" sz="4000" b="0" i="0" dirty="0">
              <a:solidFill>
                <a:srgbClr val="000000"/>
              </a:solidFill>
              <a:effectLst/>
              <a:latin typeface="Helvetica Neue"/>
            </a:endParaRPr>
          </a:p>
          <a:p>
            <a:pPr algn="just">
              <a:buNone/>
            </a:pPr>
            <a:r>
              <a:rPr lang="en-US" sz="4000" dirty="0">
                <a:solidFill>
                  <a:srgbClr val="000000"/>
                </a:solidFill>
                <a:latin typeface="Helvetica Neue"/>
              </a:rPr>
              <a:t>			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Helvetica Neue"/>
              </a:rPr>
              <a:t>Самое большое количество стартапов находится в </a:t>
            </a:r>
            <a:r>
              <a:rPr lang="ru-RU" sz="4000" b="1" i="0" dirty="0">
                <a:solidFill>
                  <a:srgbClr val="0070C0"/>
                </a:solidFill>
                <a:effectLst/>
                <a:latin typeface="Helvetica Neue"/>
              </a:rPr>
              <a:t>USA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Helvetica Neue"/>
              </a:rPr>
              <a:t>.</a:t>
            </a:r>
          </a:p>
          <a:p>
            <a:pPr algn="just">
              <a:buNone/>
            </a:pPr>
            <a:r>
              <a:rPr lang="ru-RU" sz="4000" b="0" i="0" dirty="0">
                <a:solidFill>
                  <a:srgbClr val="000000"/>
                </a:solidFill>
                <a:effectLst/>
                <a:latin typeface="Helvetica Neue"/>
              </a:rPr>
              <a:t>			ТОП-4 страны по количеству компаний, к которым относятся закрытые компании: "</a:t>
            </a:r>
            <a:r>
              <a:rPr lang="ru-RU" sz="4000" b="1" i="0" dirty="0" err="1">
                <a:solidFill>
                  <a:srgbClr val="0070C0"/>
                </a:solidFill>
                <a:effectLst/>
                <a:latin typeface="Helvetica Neue"/>
              </a:rPr>
              <a:t>usa</a:t>
            </a:r>
            <a:r>
              <a:rPr lang="ru-RU" sz="4000" b="1" i="0" dirty="0">
                <a:solidFill>
                  <a:srgbClr val="0070C0"/>
                </a:solidFill>
                <a:effectLst/>
                <a:latin typeface="Helvetica Neue"/>
              </a:rPr>
              <a:t>", "</a:t>
            </a:r>
            <a:r>
              <a:rPr lang="ru-RU" sz="4000" b="1" i="0" dirty="0" err="1">
                <a:solidFill>
                  <a:srgbClr val="0070C0"/>
                </a:solidFill>
                <a:effectLst/>
                <a:latin typeface="Helvetica Neue"/>
              </a:rPr>
              <a:t>gbr</a:t>
            </a:r>
            <a:r>
              <a:rPr lang="ru-RU" sz="4000" b="1" i="0" dirty="0">
                <a:solidFill>
                  <a:srgbClr val="0070C0"/>
                </a:solidFill>
                <a:effectLst/>
                <a:latin typeface="Helvetica Neue"/>
              </a:rPr>
              <a:t>", "</a:t>
            </a:r>
            <a:r>
              <a:rPr lang="ru-RU" sz="4000" b="1" i="0" dirty="0" err="1">
                <a:solidFill>
                  <a:srgbClr val="0070C0"/>
                </a:solidFill>
                <a:effectLst/>
                <a:latin typeface="Helvetica Neue"/>
              </a:rPr>
              <a:t>rus</a:t>
            </a:r>
            <a:r>
              <a:rPr lang="ru-RU" sz="4000" b="1" i="0" dirty="0">
                <a:solidFill>
                  <a:srgbClr val="0070C0"/>
                </a:solidFill>
                <a:effectLst/>
                <a:latin typeface="Helvetica Neue"/>
              </a:rPr>
              <a:t>" и "</a:t>
            </a:r>
            <a:r>
              <a:rPr lang="ru-RU" sz="4000" b="1" i="0" dirty="0" err="1">
                <a:solidFill>
                  <a:srgbClr val="0070C0"/>
                </a:solidFill>
                <a:effectLst/>
                <a:latin typeface="Helvetica Neue"/>
              </a:rPr>
              <a:t>can</a:t>
            </a:r>
            <a:r>
              <a:rPr lang="ru-RU" sz="4000" b="1" i="0" dirty="0">
                <a:solidFill>
                  <a:srgbClr val="0070C0"/>
                </a:solidFill>
                <a:effectLst/>
                <a:latin typeface="Helvetica Neue"/>
              </a:rPr>
              <a:t>".</a:t>
            </a:r>
          </a:p>
          <a:p>
            <a:pPr algn="just">
              <a:buNone/>
            </a:pPr>
            <a:r>
              <a:rPr lang="ru-RU" sz="4000" b="0" i="0" dirty="0">
                <a:solidFill>
                  <a:srgbClr val="000000"/>
                </a:solidFill>
                <a:effectLst/>
                <a:latin typeface="Helvetica Neue"/>
              </a:rPr>
              <a:t>			ТОП-4 страны по количеству компаний, к которым относятся действующие компании: </a:t>
            </a:r>
            <a:r>
              <a:rPr lang="ru-RU" sz="4000" b="1" i="0" dirty="0">
                <a:solidFill>
                  <a:srgbClr val="0070C0"/>
                </a:solidFill>
                <a:effectLst/>
                <a:latin typeface="Helvetica Neue"/>
              </a:rPr>
              <a:t>"</a:t>
            </a:r>
            <a:r>
              <a:rPr lang="ru-RU" sz="4000" b="1" i="0" dirty="0" err="1">
                <a:solidFill>
                  <a:srgbClr val="0070C0"/>
                </a:solidFill>
                <a:effectLst/>
                <a:latin typeface="Helvetica Neue"/>
              </a:rPr>
              <a:t>usa</a:t>
            </a:r>
            <a:r>
              <a:rPr lang="ru-RU" sz="4000" b="1" i="0" dirty="0">
                <a:solidFill>
                  <a:srgbClr val="0070C0"/>
                </a:solidFill>
                <a:effectLst/>
                <a:latin typeface="Helvetica Neue"/>
              </a:rPr>
              <a:t>", "</a:t>
            </a:r>
            <a:r>
              <a:rPr lang="ru-RU" sz="4000" b="1" i="0" dirty="0" err="1">
                <a:solidFill>
                  <a:srgbClr val="0070C0"/>
                </a:solidFill>
                <a:effectLst/>
                <a:latin typeface="Helvetica Neue"/>
              </a:rPr>
              <a:t>gbr</a:t>
            </a:r>
            <a:r>
              <a:rPr lang="ru-RU" sz="4000" b="1" i="0" dirty="0">
                <a:solidFill>
                  <a:srgbClr val="0070C0"/>
                </a:solidFill>
                <a:effectLst/>
                <a:latin typeface="Helvetica Neue"/>
              </a:rPr>
              <a:t>", "</a:t>
            </a:r>
            <a:r>
              <a:rPr lang="ru-RU" sz="4000" b="1" i="0" dirty="0" err="1">
                <a:solidFill>
                  <a:srgbClr val="0070C0"/>
                </a:solidFill>
                <a:effectLst/>
                <a:latin typeface="Helvetica Neue"/>
              </a:rPr>
              <a:t>can</a:t>
            </a:r>
            <a:r>
              <a:rPr lang="ru-RU" sz="4000" b="1" i="0" dirty="0">
                <a:solidFill>
                  <a:srgbClr val="0070C0"/>
                </a:solidFill>
                <a:effectLst/>
                <a:latin typeface="Helvetica Neue"/>
              </a:rPr>
              <a:t>" и "</a:t>
            </a:r>
            <a:r>
              <a:rPr lang="ru-RU" sz="4000" b="1" i="0" dirty="0" err="1">
                <a:solidFill>
                  <a:srgbClr val="0070C0"/>
                </a:solidFill>
                <a:effectLst/>
                <a:latin typeface="Helvetica Neue"/>
              </a:rPr>
              <a:t>ind</a:t>
            </a:r>
            <a:r>
              <a:rPr lang="ru-RU" sz="4000" b="1" i="0" dirty="0">
                <a:solidFill>
                  <a:srgbClr val="0070C0"/>
                </a:solidFill>
                <a:effectLst/>
                <a:latin typeface="Helvetica Neue"/>
              </a:rPr>
              <a:t>".</a:t>
            </a:r>
          </a:p>
          <a:p>
            <a:pPr algn="just">
              <a:buNone/>
            </a:pPr>
            <a:r>
              <a:rPr lang="ru-RU" sz="4000" b="0" i="0" dirty="0">
                <a:solidFill>
                  <a:srgbClr val="000000"/>
                </a:solidFill>
                <a:effectLst/>
                <a:latin typeface="Helvetica Neue"/>
              </a:rPr>
              <a:t>			Больше всего доля закрытых компаний среди компаний из </a:t>
            </a:r>
            <a:r>
              <a:rPr lang="ru-RU" sz="4000" b="1" i="0" dirty="0">
                <a:solidFill>
                  <a:srgbClr val="FF0000"/>
                </a:solidFill>
                <a:effectLst/>
                <a:latin typeface="Helvetica Neue"/>
              </a:rPr>
              <a:t>России (35%). 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Helvetica Neue"/>
              </a:rPr>
              <a:t>Что касается городов, то больше всего доля закрытых компаний среди компаний из </a:t>
            </a:r>
            <a:r>
              <a:rPr lang="ru-RU" sz="4000" b="1" i="0" dirty="0">
                <a:solidFill>
                  <a:srgbClr val="FF0000"/>
                </a:solidFill>
                <a:effectLst/>
                <a:latin typeface="Helvetica Neue"/>
              </a:rPr>
              <a:t>Москвы (32%).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F8C5965-1FAA-5548-7E5C-EADCBCF4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1878373-A85A-4676-928C-AA47F9F73311}" type="datetime1">
              <a:rPr lang="ru-RU" smtClean="0"/>
              <a:t>23.04.2025</a:t>
            </a:fld>
            <a:endParaRPr lang="en-US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79D764A-70BD-AC34-EF97-0D9A1B3F2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91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5D53D-D774-D830-1D9D-50747AF2A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CE2D4D-8A53-30C9-DD1F-27691E31F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524106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</a:rPr>
              <a:t>Параметр «</a:t>
            </a:r>
            <a:r>
              <a:rPr lang="en-US" b="1" dirty="0" err="1">
                <a:solidFill>
                  <a:srgbClr val="0070C0"/>
                </a:solidFill>
              </a:rPr>
              <a:t>country_code</a:t>
            </a:r>
            <a:r>
              <a:rPr lang="ru-RU" b="1" dirty="0">
                <a:solidFill>
                  <a:srgbClr val="0070C0"/>
                </a:solidFill>
              </a:rPr>
              <a:t>»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E8D228-FFBA-A36A-1CC0-028E0DFDD5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1840" y="1159497"/>
            <a:ext cx="10858968" cy="5420412"/>
          </a:xfrm>
        </p:spPr>
        <p:txBody>
          <a:bodyPr>
            <a:normAutofit fontScale="62500" lnSpcReduction="20000"/>
          </a:bodyPr>
          <a:lstStyle/>
          <a:p>
            <a:pPr algn="just">
              <a:buNone/>
            </a:pPr>
            <a:r>
              <a:rPr lang="ru-RU" sz="3600" b="0" i="0" dirty="0">
                <a:solidFill>
                  <a:srgbClr val="000000"/>
                </a:solidFill>
                <a:effectLst/>
                <a:latin typeface="Helvetica Neue"/>
              </a:rPr>
              <a:t>			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Helvetica Neue"/>
              </a:rPr>
              <a:t>Самое большое среднее количество раундов финансирования среди закрытых и действующих компаний у компаний из </a:t>
            </a:r>
            <a:r>
              <a:rPr lang="ru-RU" sz="4000" b="1" i="0" dirty="0">
                <a:solidFill>
                  <a:srgbClr val="0070C0"/>
                </a:solidFill>
                <a:effectLst/>
                <a:latin typeface="Helvetica Neue"/>
              </a:rPr>
              <a:t>США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Helvetica Neue"/>
              </a:rPr>
              <a:t> (среднее количество раундов финансирования составляет порядка </a:t>
            </a:r>
            <a:r>
              <a:rPr lang="ru-RU" sz="4000" b="1" i="0" dirty="0">
                <a:solidFill>
                  <a:srgbClr val="0070C0"/>
                </a:solidFill>
                <a:effectLst/>
                <a:latin typeface="Helvetica Neue"/>
              </a:rPr>
              <a:t>1,6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Helvetica Neue"/>
              </a:rPr>
              <a:t> для закрытых компаний и </a:t>
            </a:r>
            <a:r>
              <a:rPr lang="ru-RU" sz="4000" b="1" i="0" dirty="0">
                <a:solidFill>
                  <a:srgbClr val="0070C0"/>
                </a:solidFill>
                <a:effectLst/>
                <a:latin typeface="Helvetica Neue"/>
              </a:rPr>
              <a:t>2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Helvetica Neue"/>
              </a:rPr>
              <a:t> для действующих компаний).</a:t>
            </a:r>
          </a:p>
          <a:p>
            <a:pPr algn="just">
              <a:buNone/>
            </a:pPr>
            <a:r>
              <a:rPr lang="ru-RU" sz="4000" b="0" i="0" dirty="0">
                <a:solidFill>
                  <a:srgbClr val="000000"/>
                </a:solidFill>
                <a:effectLst/>
                <a:latin typeface="Helvetica Neue"/>
              </a:rPr>
              <a:t>			Самый большой средний объем финансирования среди закрытых и действующих компаний у компаний </a:t>
            </a:r>
            <a:r>
              <a:rPr lang="ru-RU" sz="4000" b="1" i="0" dirty="0">
                <a:solidFill>
                  <a:srgbClr val="0070C0"/>
                </a:solidFill>
                <a:effectLst/>
                <a:latin typeface="Helvetica Neue"/>
              </a:rPr>
              <a:t>Китая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Helvetica Neue"/>
              </a:rPr>
              <a:t>. На втором месте для закрытых компаний стартапы из </a:t>
            </a:r>
            <a:r>
              <a:rPr lang="ru-RU" sz="4000" b="1" i="0" dirty="0">
                <a:solidFill>
                  <a:srgbClr val="0070C0"/>
                </a:solidFill>
                <a:effectLst/>
                <a:latin typeface="Helvetica Neue"/>
              </a:rPr>
              <a:t>США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Helvetica Neue"/>
              </a:rPr>
              <a:t>, для действующи</a:t>
            </a:r>
            <a:r>
              <a:rPr lang="ru-RU" sz="4000" dirty="0">
                <a:solidFill>
                  <a:srgbClr val="000000"/>
                </a:solidFill>
                <a:latin typeface="Helvetica Neue"/>
              </a:rPr>
              <a:t>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Helvetica Neue"/>
              </a:rPr>
              <a:t> компаний - стартапы из </a:t>
            </a:r>
            <a:r>
              <a:rPr lang="ru-RU" sz="4000" b="1" i="0" dirty="0">
                <a:solidFill>
                  <a:srgbClr val="0070C0"/>
                </a:solidFill>
                <a:effectLst/>
                <a:latin typeface="Helvetica Neue"/>
              </a:rPr>
              <a:t>Индии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Helvetica Neue"/>
              </a:rPr>
              <a:t>.</a:t>
            </a:r>
          </a:p>
          <a:p>
            <a:pPr marL="0" indent="0" algn="just">
              <a:buNone/>
            </a:pPr>
            <a:r>
              <a:rPr lang="ru-RU" sz="4000" b="0" i="0" dirty="0">
                <a:solidFill>
                  <a:srgbClr val="000000"/>
                </a:solidFill>
                <a:effectLst/>
                <a:latin typeface="Helvetica Neue"/>
              </a:rPr>
              <a:t>		Самая большая средняя продолжительность деятельности среди закрытых компаний у компаний из </a:t>
            </a:r>
            <a:r>
              <a:rPr lang="ru-RU" sz="4000" b="1" i="0" dirty="0">
                <a:solidFill>
                  <a:srgbClr val="0070C0"/>
                </a:solidFill>
                <a:effectLst/>
                <a:latin typeface="Helvetica Neue"/>
              </a:rPr>
              <a:t>Канады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Helvetica Neue"/>
              </a:rPr>
              <a:t> (порядка 5 лет). Что касается действующих компаний, то самая большая средняя продолжительность деятельности у компаний из </a:t>
            </a:r>
            <a:r>
              <a:rPr lang="ru-RU" sz="4000" b="1" i="0" dirty="0">
                <a:solidFill>
                  <a:srgbClr val="0070C0"/>
                </a:solidFill>
                <a:effectLst/>
                <a:latin typeface="Helvetica Neue"/>
              </a:rPr>
              <a:t>Китая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Helvetica Neue"/>
              </a:rPr>
              <a:t> (порядка 10 лет).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6FE7233-0320-C5D1-E462-7EE4AF16F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1878373-A85A-4676-928C-AA47F9F73311}" type="datetime1">
              <a:rPr lang="ru-RU" smtClean="0"/>
              <a:t>23.04.2025</a:t>
            </a:fld>
            <a:endParaRPr lang="en-US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631E9-BFE4-B5D6-9F52-6C46E86AE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048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051E4-3F90-AC90-DEF3-BB9C548E6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EB60C3-FCEA-3053-289C-557DB1376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524106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</a:rPr>
              <a:t>Параметр «</a:t>
            </a:r>
            <a:r>
              <a:rPr lang="en-US" b="1" i="0" dirty="0" err="1">
                <a:solidFill>
                  <a:srgbClr val="0070C0"/>
                </a:solidFill>
                <a:effectLst/>
                <a:latin typeface="Helvetica Neue"/>
              </a:rPr>
              <a:t>funding_rounds</a:t>
            </a:r>
            <a:r>
              <a:rPr lang="ru-RU" b="1" dirty="0">
                <a:solidFill>
                  <a:srgbClr val="0070C0"/>
                </a:solidFill>
              </a:rPr>
              <a:t>»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E6A108D-DF00-BC87-FC4C-736B44167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84194" y="1253764"/>
            <a:ext cx="5127591" cy="5170149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		Среди закрытых и действующих компаний лидируют компании с одним или двумя раундами финансирования. </a:t>
            </a:r>
            <a:endParaRPr lang="en-US" sz="2000" b="0" i="0" dirty="0">
              <a:solidFill>
                <a:srgbClr val="000000"/>
              </a:solidFill>
              <a:effectLst/>
              <a:latin typeface="Helvetica Neue"/>
            </a:endParaRPr>
          </a:p>
          <a:p>
            <a:pPr algn="just">
              <a:buNone/>
            </a:pPr>
            <a:r>
              <a:rPr lang="en-US" sz="2000" dirty="0">
                <a:solidFill>
                  <a:srgbClr val="000000"/>
                </a:solidFill>
                <a:latin typeface="Helvetica Neue"/>
              </a:rPr>
              <a:t>		</a:t>
            </a:r>
            <a:r>
              <a:rPr lang="ru-RU" sz="2000" dirty="0">
                <a:solidFill>
                  <a:srgbClr val="000000"/>
                </a:solidFill>
                <a:latin typeface="Helvetica Neue"/>
              </a:rPr>
              <a:t>С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реди компаний с одним раундом </a:t>
            </a:r>
            <a:r>
              <a:rPr lang="ru-RU" sz="2000" dirty="0">
                <a:solidFill>
                  <a:srgbClr val="000000"/>
                </a:solidFill>
                <a:latin typeface="Helvetica Neue"/>
              </a:rPr>
              <a:t>финансирования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 самая большая доля закрытых компаний </a:t>
            </a:r>
            <a:r>
              <a:rPr lang="ru-RU" sz="2000" b="1" i="0" dirty="0">
                <a:solidFill>
                  <a:srgbClr val="0070C0"/>
                </a:solidFill>
                <a:effectLst/>
                <a:latin typeface="Helvetica Neue"/>
              </a:rPr>
              <a:t>11%</a:t>
            </a:r>
            <a:r>
              <a:rPr lang="ru-RU" sz="2000" i="0" dirty="0">
                <a:solidFill>
                  <a:schemeClr val="tx1"/>
                </a:solidFill>
                <a:effectLst/>
                <a:latin typeface="Helvetica Neue"/>
              </a:rPr>
              <a:t>, среди компаний с двумя раундами доля закрытых компаний </a:t>
            </a:r>
            <a:r>
              <a:rPr lang="ru-RU" sz="2000" b="1" i="0" dirty="0">
                <a:solidFill>
                  <a:srgbClr val="0070C0"/>
                </a:solidFill>
                <a:effectLst/>
                <a:latin typeface="Helvetica Neue"/>
              </a:rPr>
              <a:t>7,5%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. </a:t>
            </a:r>
            <a:endParaRPr lang="en-US" sz="2000" b="0" i="0" dirty="0">
              <a:solidFill>
                <a:srgbClr val="000000"/>
              </a:solidFill>
              <a:effectLst/>
              <a:latin typeface="Helvetica Neue"/>
            </a:endParaRPr>
          </a:p>
          <a:p>
            <a:pPr algn="just">
              <a:buNone/>
            </a:pPr>
            <a:r>
              <a:rPr lang="en-US" sz="2000" dirty="0">
                <a:solidFill>
                  <a:srgbClr val="000000"/>
                </a:solidFill>
                <a:latin typeface="Helvetica Neue"/>
              </a:rPr>
              <a:t>		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Доля компаний с одним раундом финансирования составляет </a:t>
            </a:r>
            <a:r>
              <a:rPr lang="ru-RU" sz="2000" b="1" i="0" dirty="0">
                <a:solidFill>
                  <a:srgbClr val="0070C0"/>
                </a:solidFill>
                <a:effectLst/>
                <a:latin typeface="Helvetica Neue"/>
              </a:rPr>
              <a:t>76%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 среди всех закрытых компаний и </a:t>
            </a:r>
            <a:r>
              <a:rPr lang="ru-RU" sz="2000" b="1" i="0" dirty="0">
                <a:solidFill>
                  <a:srgbClr val="0070C0"/>
                </a:solidFill>
                <a:effectLst/>
                <a:latin typeface="Helvetica Neue"/>
              </a:rPr>
              <a:t>62%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 среди действующих компаний. </a:t>
            </a:r>
            <a:endParaRPr lang="en-US" sz="2000" b="0" i="0" dirty="0">
              <a:solidFill>
                <a:srgbClr val="000000"/>
              </a:solidFill>
              <a:effectLst/>
              <a:latin typeface="Helvetica Neue"/>
            </a:endParaRPr>
          </a:p>
          <a:p>
            <a:pPr algn="just">
              <a:buNone/>
            </a:pPr>
            <a:r>
              <a:rPr lang="en-US" sz="2000" dirty="0">
                <a:solidFill>
                  <a:srgbClr val="000000"/>
                </a:solidFill>
                <a:latin typeface="Helvetica Neue"/>
              </a:rPr>
              <a:t>		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Максимальное количество раундов финансирования закрытых компаний равно </a:t>
            </a:r>
            <a:r>
              <a:rPr lang="ru-RU" sz="2000" b="1" i="0" dirty="0">
                <a:solidFill>
                  <a:srgbClr val="0070C0"/>
                </a:solidFill>
                <a:effectLst/>
                <a:latin typeface="Helvetica Neue"/>
              </a:rPr>
              <a:t>11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, д</a:t>
            </a:r>
            <a:r>
              <a:rPr lang="ru-RU" sz="2000" dirty="0">
                <a:solidFill>
                  <a:srgbClr val="000000"/>
                </a:solidFill>
                <a:latin typeface="Helvetica Neue"/>
              </a:rPr>
              <a:t>е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йствующих компаний - </a:t>
            </a:r>
            <a:r>
              <a:rPr lang="ru-RU" sz="2000" b="1" i="0" dirty="0">
                <a:solidFill>
                  <a:srgbClr val="0070C0"/>
                </a:solidFill>
                <a:effectLst/>
                <a:latin typeface="Helvetica Neue"/>
              </a:rPr>
              <a:t>19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.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01EBC30-3C5E-BABA-25CF-A6DC46CED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1878373-A85A-4676-928C-AA47F9F73311}" type="datetime1">
              <a:rPr lang="ru-RU" smtClean="0"/>
              <a:t>23.04.2025</a:t>
            </a:fld>
            <a:endParaRPr lang="en-US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8661601-1DF3-EF89-FE9C-777B0128F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12</a:t>
            </a:fld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A79A1202-D722-4429-AB5F-ED9E62E0B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588" y="1259116"/>
            <a:ext cx="5819606" cy="2501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50315C1B-A0BE-0D72-4A96-3577AF905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89" y="3937413"/>
            <a:ext cx="6300377" cy="266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0406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D6B25-849C-5ABA-D2C3-01C90E060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9E5E9B-76B3-0E33-B09B-8E5B2B16E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581026"/>
            <a:ext cx="9448800" cy="686177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</a:rPr>
              <a:t>Параметр «</a:t>
            </a:r>
            <a:r>
              <a:rPr lang="en-US" b="1" i="0" dirty="0" err="1">
                <a:solidFill>
                  <a:srgbClr val="0070C0"/>
                </a:solidFill>
                <a:effectLst/>
                <a:latin typeface="Helvetica Neue"/>
              </a:rPr>
              <a:t>funding_total_usd</a:t>
            </a:r>
            <a:r>
              <a:rPr lang="ru-RU" b="1" dirty="0">
                <a:solidFill>
                  <a:srgbClr val="0070C0"/>
                </a:solidFill>
              </a:rPr>
              <a:t>»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1F5B73-2BFD-D701-0E64-B619436393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580322"/>
            <a:ext cx="5514809" cy="4696652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ru-RU" sz="1800" dirty="0">
                <a:solidFill>
                  <a:srgbClr val="000000"/>
                </a:solidFill>
                <a:latin typeface="Helvetica Neue"/>
              </a:rPr>
              <a:t>		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Helvetica Neue"/>
              </a:rPr>
              <a:t>Медиана объема финансирования закрытых компаний равна </a:t>
            </a:r>
            <a:r>
              <a:rPr lang="ru-RU" sz="1800" b="1" i="0" dirty="0">
                <a:solidFill>
                  <a:srgbClr val="0070C0"/>
                </a:solidFill>
                <a:effectLst/>
                <a:latin typeface="Helvetica Neue"/>
              </a:rPr>
              <a:t>1,3 млн.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Helvetica Neue"/>
              </a:rPr>
              <a:t>долларов, медиана объема финансирования действующих компаний равна </a:t>
            </a:r>
            <a:r>
              <a:rPr lang="ru-RU" sz="1800" b="1" i="0" dirty="0">
                <a:solidFill>
                  <a:srgbClr val="0070C0"/>
                </a:solidFill>
                <a:effectLst/>
                <a:latin typeface="Helvetica Neue"/>
              </a:rPr>
              <a:t>2 млрд.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Helvetica Neue"/>
              </a:rPr>
              <a:t>долларов.</a:t>
            </a:r>
          </a:p>
          <a:p>
            <a:pPr algn="just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Helvetica Neue"/>
              </a:rPr>
              <a:t>		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Helvetica Neue"/>
              </a:rPr>
              <a:t>Максимальный объем финансирования закрытых компаний составил </a:t>
            </a:r>
            <a:r>
              <a:rPr lang="ru-RU" sz="1800" b="1" i="0" dirty="0">
                <a:solidFill>
                  <a:srgbClr val="0070C0"/>
                </a:solidFill>
                <a:effectLst/>
                <a:latin typeface="Helvetica Neue"/>
              </a:rPr>
              <a:t>1,6 млрд.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Helvetica Neue"/>
              </a:rPr>
              <a:t>долларов, максимальный объем финансирования действующих компаний составил </a:t>
            </a:r>
            <a:r>
              <a:rPr lang="ru-RU" sz="1800" b="1" i="0" dirty="0">
                <a:solidFill>
                  <a:srgbClr val="0070C0"/>
                </a:solidFill>
                <a:effectLst/>
                <a:latin typeface="Helvetica Neue"/>
              </a:rPr>
              <a:t>4,8 млрд.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Helvetica Neue"/>
              </a:rPr>
              <a:t>долларов.</a:t>
            </a:r>
          </a:p>
          <a:p>
            <a:pPr marL="0" indent="0" algn="just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Helvetica Neue"/>
              </a:rPr>
              <a:t>	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Helvetica Neue"/>
              </a:rPr>
              <a:t>Среднее значение объема финансирования закрытых компаний - </a:t>
            </a:r>
            <a:r>
              <a:rPr lang="ru-RU" sz="1800" b="1" i="0" dirty="0">
                <a:solidFill>
                  <a:srgbClr val="0070C0"/>
                </a:solidFill>
                <a:effectLst/>
                <a:latin typeface="Helvetica Neue"/>
              </a:rPr>
              <a:t>11,3 млн.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Helvetica Neue"/>
              </a:rPr>
              <a:t> долларов. 	Среднее значение объема финансирования действующих компаний - </a:t>
            </a:r>
            <a:r>
              <a:rPr lang="ru-RU" sz="1800" b="1" i="0" dirty="0">
                <a:solidFill>
                  <a:srgbClr val="0070C0"/>
                </a:solidFill>
                <a:effectLst/>
                <a:latin typeface="Helvetica Neue"/>
              </a:rPr>
              <a:t>17,1 млн.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Helvetica Neue"/>
              </a:rPr>
              <a:t>долларов.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C4F4F75-B87E-46FF-C470-BBC9FC6DF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4F0D1DA-322B-436F-BB7C-2C6820334CEF}" type="datetime1">
              <a:rPr lang="ru-RU" smtClean="0"/>
              <a:t>23.04.2025</a:t>
            </a:fld>
            <a:endParaRPr lang="en-US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B02C7E1-A878-9D0E-71C9-C0C81E279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13</a:t>
            </a:fld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B92400F-0F5A-F504-D4C0-9E476C29574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426" y="1415836"/>
            <a:ext cx="5441574" cy="486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8546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FD28A-E68F-0076-431D-42EA41E5B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56DB90-33E7-74EA-93ED-F05A5E5CC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581026"/>
            <a:ext cx="9448800" cy="686177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</a:rPr>
              <a:t>Параметр «</a:t>
            </a:r>
            <a:r>
              <a:rPr lang="en-US" b="1" dirty="0">
                <a:solidFill>
                  <a:srgbClr val="0070C0"/>
                </a:solidFill>
              </a:rPr>
              <a:t>lifetime</a:t>
            </a:r>
            <a:r>
              <a:rPr lang="ru-RU" b="1" dirty="0">
                <a:solidFill>
                  <a:srgbClr val="0070C0"/>
                </a:solidFill>
              </a:rPr>
              <a:t>»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F2D18BC-32B5-A3B3-7972-38BF69813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554" y="1580322"/>
            <a:ext cx="5414255" cy="4548019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Helvetica Neue"/>
              </a:rPr>
              <a:t>		Медиана продолжительности деятельности закрытых компаний равна </a:t>
            </a:r>
            <a:r>
              <a:rPr lang="ru-RU" sz="1800" b="1" i="0" dirty="0">
                <a:solidFill>
                  <a:srgbClr val="0070C0"/>
                </a:solidFill>
                <a:effectLst/>
                <a:latin typeface="Helvetica Neue"/>
              </a:rPr>
              <a:t>3 годам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Helvetica Neue"/>
              </a:rPr>
              <a:t>, среднее значение - </a:t>
            </a:r>
            <a:r>
              <a:rPr lang="ru-RU" sz="1800" b="1" i="0" dirty="0">
                <a:solidFill>
                  <a:srgbClr val="0070C0"/>
                </a:solidFill>
                <a:effectLst/>
                <a:latin typeface="Helvetica Neue"/>
              </a:rPr>
              <a:t>4 года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Helvetica Neue"/>
              </a:rPr>
              <a:t>. </a:t>
            </a:r>
          </a:p>
          <a:p>
            <a:pPr algn="just">
              <a:buNone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Helvetica Neue"/>
              </a:rPr>
              <a:t>		Не более 5% закрытых компаний работают дольше </a:t>
            </a:r>
            <a:r>
              <a:rPr lang="ru-RU" sz="1800" b="1" i="0" dirty="0">
                <a:solidFill>
                  <a:srgbClr val="0070C0"/>
                </a:solidFill>
                <a:effectLst/>
                <a:latin typeface="Helvetica Neue"/>
              </a:rPr>
              <a:t>10 лет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Helvetica Neue"/>
              </a:rPr>
              <a:t>.</a:t>
            </a:r>
          </a:p>
          <a:p>
            <a:pPr algn="just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Helvetica Neue"/>
              </a:rPr>
              <a:t>		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Helvetica Neue"/>
              </a:rPr>
              <a:t>Медиана продолжительности деятельности действующих компаний равна </a:t>
            </a:r>
            <a:r>
              <a:rPr lang="ru-RU" sz="1800" b="1" i="0" dirty="0">
                <a:solidFill>
                  <a:srgbClr val="0070C0"/>
                </a:solidFill>
                <a:effectLst/>
                <a:latin typeface="Helvetica Neue"/>
              </a:rPr>
              <a:t>7 годам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Helvetica Neue"/>
              </a:rPr>
              <a:t>, среднее значение - </a:t>
            </a:r>
            <a:r>
              <a:rPr lang="ru-RU" sz="1800" b="1" i="0" dirty="0">
                <a:solidFill>
                  <a:srgbClr val="0070C0"/>
                </a:solidFill>
                <a:effectLst/>
                <a:latin typeface="Helvetica Neue"/>
              </a:rPr>
              <a:t>9 лет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Helvetica Neue"/>
              </a:rPr>
              <a:t>. </a:t>
            </a:r>
          </a:p>
          <a:p>
            <a:pPr algn="just">
              <a:buNone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Helvetica Neue"/>
              </a:rPr>
              <a:t>		Не более 5% действующих компаний работают дольше </a:t>
            </a:r>
            <a:r>
              <a:rPr lang="ru-RU" sz="1800" b="1" i="0" dirty="0">
                <a:solidFill>
                  <a:srgbClr val="0070C0"/>
                </a:solidFill>
                <a:effectLst/>
                <a:latin typeface="Helvetica Neue"/>
              </a:rPr>
              <a:t>20 лет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Helvetica Neue"/>
              </a:rPr>
              <a:t>.</a:t>
            </a:r>
          </a:p>
          <a:p>
            <a:pPr marL="0" indent="0" algn="just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Helvetica Neue"/>
              </a:rPr>
              <a:t>	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Helvetica Neue"/>
              </a:rPr>
              <a:t>Вероятность закрытия компании на </a:t>
            </a:r>
            <a:r>
              <a:rPr lang="ru-RU" sz="1800" b="1" i="0" dirty="0">
                <a:solidFill>
                  <a:srgbClr val="0070C0"/>
                </a:solidFill>
                <a:effectLst/>
                <a:latin typeface="Helvetica Neue"/>
              </a:rPr>
              <a:t>первых двух годах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Helvetica Neue"/>
              </a:rPr>
              <a:t>ее деятельности самая максимальная (практически равна 1), после </a:t>
            </a:r>
            <a:r>
              <a:rPr lang="ru-RU" sz="1800" b="1" i="0" dirty="0">
                <a:solidFill>
                  <a:srgbClr val="0070C0"/>
                </a:solidFill>
                <a:effectLst/>
                <a:latin typeface="Helvetica Neue"/>
              </a:rPr>
              <a:t>4 лет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Helvetica Neue"/>
              </a:rPr>
              <a:t> ее работы вероятность закрытия становится практически нулевой. 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C46C2A1-E718-442A-4AF4-C7C3C7649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4F0D1DA-322B-436F-BB7C-2C6820334CEF}" type="datetime1">
              <a:rPr lang="ru-RU" smtClean="0"/>
              <a:t>23.04.2025</a:t>
            </a:fld>
            <a:endParaRPr lang="en-US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79C318E-18DD-C2B0-D928-FBE7AF698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14</a:t>
            </a:fld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81890D3-8120-1637-ED0F-68F5DF75007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274" y="1687398"/>
            <a:ext cx="5414174" cy="3842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069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39E37-1184-B454-77F0-E4D0C7660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FBD74C-358D-17F1-9372-D11065168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524106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</a:rPr>
              <a:t>Корреляция параметров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4E817E9-A105-8167-CE7A-C489D44111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1840" y="1159497"/>
            <a:ext cx="10858968" cy="5420412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ru-RU" sz="2800" b="0" i="0" dirty="0">
                <a:solidFill>
                  <a:srgbClr val="000000"/>
                </a:solidFill>
                <a:effectLst/>
                <a:latin typeface="Helvetica Neue"/>
              </a:rPr>
              <a:t>			</a:t>
            </a:r>
            <a:r>
              <a:rPr lang="ru-RU" sz="1900" b="0" i="0" dirty="0">
                <a:solidFill>
                  <a:srgbClr val="000000"/>
                </a:solidFill>
                <a:effectLst/>
                <a:latin typeface="Helvetica Neue"/>
              </a:rPr>
              <a:t>Существует положительная корреляция между новыми параметрами </a:t>
            </a:r>
            <a:r>
              <a:rPr lang="ru-RU" sz="1900" b="1" i="0" dirty="0">
                <a:solidFill>
                  <a:srgbClr val="0070C0"/>
                </a:solidFill>
                <a:effectLst/>
                <a:latin typeface="Helvetica Neue"/>
              </a:rPr>
              <a:t>"</a:t>
            </a:r>
            <a:r>
              <a:rPr lang="ru-RU" sz="1900" b="1" i="0" dirty="0" err="1">
                <a:solidFill>
                  <a:srgbClr val="0070C0"/>
                </a:solidFill>
                <a:effectLst/>
                <a:latin typeface="Helvetica Neue"/>
              </a:rPr>
              <a:t>country_gr</a:t>
            </a:r>
            <a:r>
              <a:rPr lang="ru-RU" sz="1900" b="1" i="0" dirty="0">
                <a:solidFill>
                  <a:srgbClr val="0070C0"/>
                </a:solidFill>
                <a:effectLst/>
                <a:latin typeface="Helvetica Neue"/>
              </a:rPr>
              <a:t>", "</a:t>
            </a:r>
            <a:r>
              <a:rPr lang="ru-RU" sz="1900" b="1" i="0" dirty="0" err="1">
                <a:solidFill>
                  <a:srgbClr val="0070C0"/>
                </a:solidFill>
                <a:effectLst/>
                <a:latin typeface="Helvetica Neue"/>
              </a:rPr>
              <a:t>state_gr</a:t>
            </a:r>
            <a:r>
              <a:rPr lang="ru-RU" sz="1900" b="1" i="0" dirty="0">
                <a:solidFill>
                  <a:srgbClr val="0070C0"/>
                </a:solidFill>
                <a:effectLst/>
                <a:latin typeface="Helvetica Neue"/>
              </a:rPr>
              <a:t>", "</a:t>
            </a:r>
            <a:r>
              <a:rPr lang="ru-RU" sz="1900" b="1" i="0" dirty="0" err="1">
                <a:solidFill>
                  <a:srgbClr val="0070C0"/>
                </a:solidFill>
                <a:effectLst/>
                <a:latin typeface="Helvetica Neue"/>
              </a:rPr>
              <a:t>region_gr</a:t>
            </a:r>
            <a:r>
              <a:rPr lang="ru-RU" sz="1900" b="1" i="0" dirty="0">
                <a:solidFill>
                  <a:srgbClr val="0070C0"/>
                </a:solidFill>
                <a:effectLst/>
                <a:latin typeface="Helvetica Neue"/>
              </a:rPr>
              <a:t>" и "</a:t>
            </a:r>
            <a:r>
              <a:rPr lang="ru-RU" sz="1900" b="1" i="0" dirty="0" err="1">
                <a:solidFill>
                  <a:srgbClr val="0070C0"/>
                </a:solidFill>
                <a:effectLst/>
                <a:latin typeface="Helvetica Neue"/>
              </a:rPr>
              <a:t>city_gr</a:t>
            </a:r>
            <a:r>
              <a:rPr lang="ru-RU" sz="1900" b="1" i="0" dirty="0">
                <a:solidFill>
                  <a:srgbClr val="0070C0"/>
                </a:solidFill>
                <a:effectLst/>
                <a:latin typeface="Helvetica Neue"/>
              </a:rPr>
              <a:t>" </a:t>
            </a:r>
            <a:r>
              <a:rPr lang="ru-RU" sz="1900" b="0" i="0" dirty="0">
                <a:solidFill>
                  <a:srgbClr val="000000"/>
                </a:solidFill>
                <a:effectLst/>
                <a:latin typeface="Helvetica Neue"/>
              </a:rPr>
              <a:t>(коэффициенты корреляции от </a:t>
            </a:r>
            <a:r>
              <a:rPr lang="ru-RU" sz="1900" b="1" i="0" dirty="0">
                <a:solidFill>
                  <a:srgbClr val="0070C0"/>
                </a:solidFill>
                <a:effectLst/>
                <a:latin typeface="Helvetica Neue"/>
              </a:rPr>
              <a:t>0.81 до 0.96</a:t>
            </a:r>
            <a:r>
              <a:rPr lang="ru-RU" sz="1900" b="0" i="0" dirty="0">
                <a:solidFill>
                  <a:srgbClr val="000000"/>
                </a:solidFill>
                <a:effectLst/>
                <a:latin typeface="Helvetica Neue"/>
              </a:rPr>
              <a:t>). Ну это и понятно, потому что все эти параметры характеризуют географическую принадлежность компании-стартапа и связаны между собой. </a:t>
            </a:r>
          </a:p>
          <a:p>
            <a:pPr algn="just">
              <a:buNone/>
            </a:pPr>
            <a:r>
              <a:rPr lang="ru-RU" sz="1900" dirty="0">
                <a:solidFill>
                  <a:srgbClr val="000000"/>
                </a:solidFill>
                <a:latin typeface="Helvetica Neue"/>
              </a:rPr>
              <a:t>			</a:t>
            </a:r>
            <a:r>
              <a:rPr lang="ru-RU" sz="1900" b="0" i="0" dirty="0">
                <a:solidFill>
                  <a:srgbClr val="000000"/>
                </a:solidFill>
                <a:effectLst/>
                <a:latin typeface="Helvetica Neue"/>
              </a:rPr>
              <a:t>Для машинного обучения в качестве географического исходного параметра будем </a:t>
            </a:r>
            <a:r>
              <a:rPr lang="ru-RU" sz="1900" dirty="0">
                <a:solidFill>
                  <a:srgbClr val="000000"/>
                </a:solidFill>
                <a:latin typeface="Helvetica Neue"/>
              </a:rPr>
              <a:t>использовать</a:t>
            </a:r>
            <a:r>
              <a:rPr lang="ru-RU" sz="1900" b="0" i="0" dirty="0">
                <a:solidFill>
                  <a:srgbClr val="000000"/>
                </a:solidFill>
                <a:effectLst/>
                <a:latin typeface="Helvetica Neue"/>
              </a:rPr>
              <a:t> только один параметр </a:t>
            </a:r>
            <a:r>
              <a:rPr lang="ru-RU" sz="1900" b="1" i="0" dirty="0">
                <a:solidFill>
                  <a:srgbClr val="0070C0"/>
                </a:solidFill>
                <a:effectLst/>
                <a:latin typeface="Helvetica Neue"/>
              </a:rPr>
              <a:t>"</a:t>
            </a:r>
            <a:r>
              <a:rPr lang="ru-RU" sz="1900" b="1" i="0" dirty="0" err="1">
                <a:solidFill>
                  <a:srgbClr val="0070C0"/>
                </a:solidFill>
                <a:effectLst/>
                <a:latin typeface="Helvetica Neue"/>
              </a:rPr>
              <a:t>country_gr</a:t>
            </a:r>
            <a:r>
              <a:rPr lang="ru-RU" sz="1900" b="1" i="0" dirty="0">
                <a:solidFill>
                  <a:srgbClr val="0070C0"/>
                </a:solidFill>
                <a:effectLst/>
                <a:latin typeface="Helvetica Neue"/>
              </a:rPr>
              <a:t>", </a:t>
            </a:r>
            <a:r>
              <a:rPr lang="ru-RU" sz="1900" b="0" i="0" dirty="0">
                <a:solidFill>
                  <a:srgbClr val="000000"/>
                </a:solidFill>
                <a:effectLst/>
                <a:latin typeface="Helvetica Neue"/>
              </a:rPr>
              <a:t>чтобы исключить </a:t>
            </a:r>
            <a:r>
              <a:rPr lang="ru-RU" sz="1900" b="0" i="0" dirty="0" err="1">
                <a:solidFill>
                  <a:srgbClr val="000000"/>
                </a:solidFill>
                <a:effectLst/>
                <a:latin typeface="Helvetica Neue"/>
              </a:rPr>
              <a:t>мультиколлинеарность</a:t>
            </a:r>
            <a:r>
              <a:rPr lang="ru-RU" sz="1900" b="0" i="0" dirty="0">
                <a:solidFill>
                  <a:srgbClr val="000000"/>
                </a:solidFill>
                <a:effectLst/>
                <a:latin typeface="Helvetica Neue"/>
              </a:rPr>
              <a:t>.</a:t>
            </a:r>
          </a:p>
          <a:p>
            <a:pPr algn="just">
              <a:buNone/>
            </a:pPr>
            <a:r>
              <a:rPr lang="ru-RU" sz="1900" b="0" i="0" dirty="0">
                <a:solidFill>
                  <a:srgbClr val="000000"/>
                </a:solidFill>
                <a:effectLst/>
                <a:latin typeface="Helvetica Neue"/>
              </a:rPr>
              <a:t>			Также существует небольшая положительная корреляция между параметрами </a:t>
            </a:r>
            <a:r>
              <a:rPr lang="ru-RU" sz="1900" b="1" i="0" dirty="0">
                <a:solidFill>
                  <a:srgbClr val="0070C0"/>
                </a:solidFill>
                <a:effectLst/>
                <a:latin typeface="Helvetica Neue"/>
              </a:rPr>
              <a:t>"</a:t>
            </a:r>
            <a:r>
              <a:rPr lang="ru-RU" sz="1900" b="1" i="0" dirty="0" err="1">
                <a:solidFill>
                  <a:srgbClr val="0070C0"/>
                </a:solidFill>
                <a:effectLst/>
                <a:latin typeface="Helvetica Neue"/>
              </a:rPr>
              <a:t>funding_total_usd</a:t>
            </a:r>
            <a:r>
              <a:rPr lang="ru-RU" sz="1900" b="1" i="0" dirty="0">
                <a:solidFill>
                  <a:srgbClr val="0070C0"/>
                </a:solidFill>
                <a:effectLst/>
                <a:latin typeface="Helvetica Neue"/>
              </a:rPr>
              <a:t>" и "</a:t>
            </a:r>
            <a:r>
              <a:rPr lang="ru-RU" sz="1900" b="1" i="0" dirty="0" err="1">
                <a:solidFill>
                  <a:srgbClr val="0070C0"/>
                </a:solidFill>
                <a:effectLst/>
                <a:latin typeface="Helvetica Neue"/>
              </a:rPr>
              <a:t>funding_rounds</a:t>
            </a:r>
            <a:r>
              <a:rPr lang="ru-RU" sz="1900" b="1" i="0" dirty="0">
                <a:solidFill>
                  <a:srgbClr val="0070C0"/>
                </a:solidFill>
                <a:effectLst/>
                <a:latin typeface="Helvetica Neue"/>
              </a:rPr>
              <a:t>"</a:t>
            </a:r>
            <a:r>
              <a:rPr lang="ru-RU" sz="1900" b="0" i="0" dirty="0">
                <a:solidFill>
                  <a:srgbClr val="000000"/>
                </a:solidFill>
                <a:effectLst/>
                <a:latin typeface="Helvetica Neue"/>
              </a:rPr>
              <a:t> (коэффициент корреляции </a:t>
            </a:r>
            <a:r>
              <a:rPr lang="ru-RU" sz="1900" b="1" i="0" dirty="0">
                <a:solidFill>
                  <a:srgbClr val="0070C0"/>
                </a:solidFill>
                <a:effectLst/>
                <a:latin typeface="Helvetica Neue"/>
              </a:rPr>
              <a:t>0.5</a:t>
            </a:r>
            <a:r>
              <a:rPr lang="ru-RU" sz="1900" b="0" i="0" dirty="0">
                <a:solidFill>
                  <a:srgbClr val="000000"/>
                </a:solidFill>
                <a:effectLst/>
                <a:latin typeface="Helvetica Neue"/>
              </a:rPr>
              <a:t>). Это тоже понятно, так как между количеством раундов финансирования и общим объемом финансирования возможно есть связь.</a:t>
            </a:r>
          </a:p>
          <a:p>
            <a:pPr algn="just">
              <a:buNone/>
            </a:pPr>
            <a:r>
              <a:rPr lang="ru-RU" sz="1900" b="0" i="0" dirty="0">
                <a:solidFill>
                  <a:srgbClr val="000000"/>
                </a:solidFill>
                <a:effectLst/>
                <a:latin typeface="Helvetica Neue"/>
              </a:rPr>
              <a:t>			Целевой признак </a:t>
            </a:r>
            <a:r>
              <a:rPr lang="ru-RU" sz="1900" b="1" i="0" dirty="0">
                <a:solidFill>
                  <a:srgbClr val="0070C0"/>
                </a:solidFill>
                <a:effectLst/>
                <a:latin typeface="Helvetica Neue"/>
              </a:rPr>
              <a:t>"</a:t>
            </a:r>
            <a:r>
              <a:rPr lang="ru-RU" sz="1900" b="1" i="0" dirty="0" err="1">
                <a:solidFill>
                  <a:srgbClr val="0070C0"/>
                </a:solidFill>
                <a:effectLst/>
                <a:latin typeface="Helvetica Neue"/>
              </a:rPr>
              <a:t>status</a:t>
            </a:r>
            <a:r>
              <a:rPr lang="ru-RU" sz="1900" b="1" i="0" dirty="0">
                <a:solidFill>
                  <a:srgbClr val="0070C0"/>
                </a:solidFill>
                <a:effectLst/>
                <a:latin typeface="Helvetica Neue"/>
              </a:rPr>
              <a:t>" </a:t>
            </a:r>
            <a:r>
              <a:rPr lang="ru-RU" sz="1900" b="0" i="0" dirty="0">
                <a:solidFill>
                  <a:srgbClr val="000000"/>
                </a:solidFill>
                <a:effectLst/>
                <a:latin typeface="Helvetica Neue"/>
              </a:rPr>
              <a:t>для тренировочных данных имеет положительную корреляцию с параметром </a:t>
            </a:r>
            <a:r>
              <a:rPr lang="ru-RU" sz="1900" b="1" i="0" dirty="0">
                <a:solidFill>
                  <a:srgbClr val="0070C0"/>
                </a:solidFill>
                <a:effectLst/>
                <a:latin typeface="Helvetica Neue"/>
              </a:rPr>
              <a:t>"</a:t>
            </a:r>
            <a:r>
              <a:rPr lang="ru-RU" sz="1900" b="1" i="0" dirty="0" err="1">
                <a:solidFill>
                  <a:srgbClr val="0070C0"/>
                </a:solidFill>
                <a:effectLst/>
                <a:latin typeface="Helvetica Neue"/>
              </a:rPr>
              <a:t>lifetime</a:t>
            </a:r>
            <a:r>
              <a:rPr lang="ru-RU" sz="1900" b="1" i="0" dirty="0">
                <a:solidFill>
                  <a:srgbClr val="0070C0"/>
                </a:solidFill>
                <a:effectLst/>
                <a:latin typeface="Helvetica Neue"/>
              </a:rPr>
              <a:t>" </a:t>
            </a:r>
            <a:r>
              <a:rPr lang="ru-RU" sz="1900" b="0" i="0" dirty="0">
                <a:solidFill>
                  <a:srgbClr val="000000"/>
                </a:solidFill>
                <a:effectLst/>
                <a:latin typeface="Helvetica Neue"/>
              </a:rPr>
              <a:t>(коэффициент корреляции </a:t>
            </a:r>
            <a:r>
              <a:rPr lang="ru-RU" sz="1900" b="1" i="0" dirty="0">
                <a:solidFill>
                  <a:srgbClr val="0070C0"/>
                </a:solidFill>
                <a:effectLst/>
                <a:latin typeface="Helvetica Neue"/>
              </a:rPr>
              <a:t>0.57</a:t>
            </a:r>
            <a:r>
              <a:rPr lang="ru-RU" sz="1900" b="0" i="0" dirty="0">
                <a:solidFill>
                  <a:srgbClr val="000000"/>
                </a:solidFill>
                <a:effectLst/>
                <a:latin typeface="Helvetica Neue"/>
              </a:rPr>
              <a:t>).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C67C1E9-7CDA-6E5C-80AF-5ED73992E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1878373-A85A-4676-928C-AA47F9F73311}" type="datetime1">
              <a:rPr lang="ru-RU" smtClean="0"/>
              <a:t>23.04.2025</a:t>
            </a:fld>
            <a:endParaRPr lang="en-US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3365615-6828-44C0-6BCF-7260888F6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108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3BEB4-BF45-4BAD-22A6-3CB6DB40C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270702-093F-1E08-0F3F-B1D30AAAC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524106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</a:rPr>
              <a:t>Модель для прогноза статуса стартапа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6CE27EA-10BF-F48B-585C-C2260AADEE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1840" y="1253764"/>
            <a:ext cx="10858968" cy="5170149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ru-RU" sz="3600" dirty="0">
                <a:solidFill>
                  <a:srgbClr val="000000"/>
                </a:solidFill>
                <a:latin typeface="Helvetica Neue"/>
              </a:rPr>
              <a:t>			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В рамках данного проекта для поиска модели использовалось машинное обучение с учителем.</a:t>
            </a:r>
          </a:p>
          <a:p>
            <a:pPr algn="just">
              <a:buNone/>
            </a:pP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			Тип нашей задачи для поиска модели - бинарная классификация на основе как числовых, так и категориальных параметров.</a:t>
            </a:r>
          </a:p>
          <a:p>
            <a:pPr marL="0" indent="0" algn="just">
              <a:buNone/>
            </a:pP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		В качестве метрики для оценки качества модели использовалась метрика </a:t>
            </a:r>
            <a:r>
              <a:rPr lang="ru-RU" sz="2000" b="1" i="0" dirty="0">
                <a:solidFill>
                  <a:srgbClr val="0070C0"/>
                </a:solidFill>
                <a:effectLst/>
                <a:latin typeface="Helvetica Neue"/>
              </a:rPr>
              <a:t>"f1_score".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Данная метрика представляет собой среднее гармоническое двух показателей: точности "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Helvetica Neue"/>
              </a:rPr>
              <a:t>precision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" и полноты "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Helvetica Neue"/>
              </a:rPr>
              <a:t>recall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". Точность - это отношение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Helvetica Neue"/>
              </a:rPr>
              <a:t>true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Helvetica Neue"/>
              </a:rPr>
              <a:t>positives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 (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Helvetica Neue"/>
              </a:rPr>
              <a:t>tp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) ко всем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Helvetica Neue"/>
              </a:rPr>
              <a:t>predicted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Helvetica Neue"/>
              </a:rPr>
              <a:t>positives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 (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Helvetica Neue"/>
              </a:rPr>
              <a:t>tp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 +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Helvetica Neue"/>
              </a:rPr>
              <a:t>fp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). Полнота это отношение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Helvetica Neue"/>
              </a:rPr>
              <a:t>true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Helvetica Neue"/>
              </a:rPr>
              <a:t>positives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 ко всем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Helvetica Neue"/>
              </a:rPr>
              <a:t>actual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Helvetica Neue"/>
              </a:rPr>
              <a:t>positives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 (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Helvetica Neue"/>
              </a:rPr>
              <a:t>tp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 +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Helvetica Neue"/>
              </a:rPr>
              <a:t>fn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). Все обозначения взяты из матрицы ошибок. </a:t>
            </a:r>
          </a:p>
          <a:p>
            <a:pPr marL="0" indent="0" algn="just">
              <a:buNone/>
            </a:pPr>
            <a:r>
              <a:rPr lang="ru-RU" sz="2000" dirty="0">
                <a:solidFill>
                  <a:srgbClr val="000000"/>
                </a:solidFill>
                <a:latin typeface="Helvetica Neue"/>
              </a:rPr>
              <a:t>		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Эту метрику хорошо использовать, когда есть дисбаланс классов. У нас именно такая ситуация (закрытых компаний - 9%, действующих - 91%).</a:t>
            </a:r>
          </a:p>
          <a:p>
            <a:pPr algn="just">
              <a:buNone/>
            </a:pP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			Из всех моделей самой оптимальной с точки зрения заданной метрики оказалась модель </a:t>
            </a:r>
            <a:r>
              <a:rPr lang="ru-RU" sz="2000" b="1" i="0" dirty="0" err="1">
                <a:solidFill>
                  <a:srgbClr val="0070C0"/>
                </a:solidFill>
                <a:effectLst/>
                <a:latin typeface="Helvetica Neue"/>
              </a:rPr>
              <a:t>CatBoostClassifier</a:t>
            </a:r>
            <a:r>
              <a:rPr lang="ru-RU" sz="2000" b="1" i="0" dirty="0">
                <a:solidFill>
                  <a:srgbClr val="0070C0"/>
                </a:solidFill>
                <a:effectLst/>
                <a:latin typeface="Helvetica Neue"/>
              </a:rPr>
              <a:t>.</a:t>
            </a:r>
          </a:p>
          <a:p>
            <a:pPr algn="just">
              <a:buNone/>
            </a:pP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			Метрика </a:t>
            </a:r>
            <a:r>
              <a:rPr lang="ru-RU" sz="2000" b="1" i="0" dirty="0">
                <a:solidFill>
                  <a:srgbClr val="0070C0"/>
                </a:solidFill>
                <a:effectLst/>
                <a:latin typeface="Helvetica Neue"/>
              </a:rPr>
              <a:t>"f1_score"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 Neue"/>
              </a:rPr>
              <a:t>на тестовой выборке составила </a:t>
            </a:r>
            <a:r>
              <a:rPr lang="ru-RU" sz="2000" b="1" i="0" dirty="0">
                <a:solidFill>
                  <a:srgbClr val="0070C0"/>
                </a:solidFill>
                <a:effectLst/>
                <a:latin typeface="Helvetica Neue"/>
              </a:rPr>
              <a:t>0.87.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8EE0B1-1A10-ADF6-00E1-BBD9E25CB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1878373-A85A-4676-928C-AA47F9F73311}" type="datetime1">
              <a:rPr lang="ru-RU" smtClean="0"/>
              <a:t>23.04.2025</a:t>
            </a:fld>
            <a:endParaRPr lang="en-US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BF9992C-8E8B-22D8-CA17-00B13E423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523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5D170-388C-33B4-5A8A-7C0DBD5AF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65F45F-9CC4-048A-A3DA-341389C82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581026"/>
            <a:ext cx="9448800" cy="686177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</a:rPr>
              <a:t>Важность параметров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D9A9D0F-3CA2-20A6-7AB7-924FFAFFF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28321" y="1580322"/>
            <a:ext cx="4182487" cy="454801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Helvetica Neue"/>
              </a:rPr>
              <a:t>	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Helvetica Neue"/>
              </a:rPr>
              <a:t>Наиболее важным параметром для предсказания целевого признака является параметр </a:t>
            </a:r>
            <a:r>
              <a:rPr lang="ru-RU" sz="1800" b="1" i="0" dirty="0">
                <a:solidFill>
                  <a:srgbClr val="0070C0"/>
                </a:solidFill>
                <a:effectLst/>
                <a:latin typeface="Helvetica Neue"/>
              </a:rPr>
              <a:t>"</a:t>
            </a:r>
            <a:r>
              <a:rPr lang="ru-RU" sz="1800" b="1" i="0" dirty="0" err="1">
                <a:solidFill>
                  <a:srgbClr val="0070C0"/>
                </a:solidFill>
                <a:effectLst/>
                <a:latin typeface="Helvetica Neue"/>
              </a:rPr>
              <a:t>lifetime</a:t>
            </a:r>
            <a:r>
              <a:rPr lang="ru-RU" sz="1800" b="1" i="0" dirty="0">
                <a:solidFill>
                  <a:srgbClr val="0070C0"/>
                </a:solidFill>
                <a:effectLst/>
                <a:latin typeface="Helvetica Neue"/>
              </a:rPr>
              <a:t>"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Helvetica Neue"/>
              </a:rPr>
              <a:t>(продолжительность деятельности компании). </a:t>
            </a:r>
          </a:p>
          <a:p>
            <a:pPr marL="0" indent="0" algn="just">
              <a:buNone/>
            </a:pPr>
            <a:r>
              <a:rPr lang="ru-RU" sz="180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Helvetica Neue"/>
              </a:rPr>
              <a:t>Низкие значения данного параметра приводят к значению </a:t>
            </a:r>
            <a:r>
              <a:rPr lang="ru-RU" sz="1800" b="1" i="0" dirty="0">
                <a:solidFill>
                  <a:srgbClr val="0070C0"/>
                </a:solidFill>
                <a:effectLst/>
                <a:latin typeface="Helvetica Neue"/>
              </a:rPr>
              <a:t>"</a:t>
            </a:r>
            <a:r>
              <a:rPr lang="ru-RU" sz="1800" b="1" i="0" dirty="0" err="1">
                <a:solidFill>
                  <a:srgbClr val="0070C0"/>
                </a:solidFill>
                <a:effectLst/>
                <a:latin typeface="Helvetica Neue"/>
              </a:rPr>
              <a:t>closed</a:t>
            </a:r>
            <a:r>
              <a:rPr lang="ru-RU" sz="1800" b="1" i="0" dirty="0">
                <a:solidFill>
                  <a:srgbClr val="0070C0"/>
                </a:solidFill>
                <a:effectLst/>
                <a:latin typeface="Helvetica Neue"/>
              </a:rPr>
              <a:t>"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Helvetica Neue"/>
              </a:rPr>
              <a:t>целевого признака </a:t>
            </a:r>
            <a:r>
              <a:rPr lang="ru-RU" sz="1800" b="1" i="0" dirty="0">
                <a:solidFill>
                  <a:srgbClr val="0070C0"/>
                </a:solidFill>
                <a:effectLst/>
                <a:latin typeface="Helvetica Neue"/>
              </a:rPr>
              <a:t>"</a:t>
            </a:r>
            <a:r>
              <a:rPr lang="ru-RU" sz="1800" b="1" i="0" dirty="0" err="1">
                <a:solidFill>
                  <a:srgbClr val="0070C0"/>
                </a:solidFill>
                <a:effectLst/>
                <a:latin typeface="Helvetica Neue"/>
              </a:rPr>
              <a:t>status</a:t>
            </a:r>
            <a:r>
              <a:rPr lang="ru-RU" sz="1800" b="1" i="0" dirty="0">
                <a:solidFill>
                  <a:srgbClr val="0070C0"/>
                </a:solidFill>
                <a:effectLst/>
                <a:latin typeface="Helvetica Neue"/>
              </a:rPr>
              <a:t>",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Helvetica Neue"/>
              </a:rPr>
              <a:t>высокие значения параметра приводят к значению </a:t>
            </a:r>
            <a:r>
              <a:rPr lang="ru-RU" sz="1800" b="1" i="0" dirty="0">
                <a:solidFill>
                  <a:srgbClr val="0070C0"/>
                </a:solidFill>
                <a:effectLst/>
                <a:latin typeface="Helvetica Neue"/>
              </a:rPr>
              <a:t>"</a:t>
            </a:r>
            <a:r>
              <a:rPr lang="ru-RU" sz="1800" b="1" i="0" dirty="0" err="1">
                <a:solidFill>
                  <a:srgbClr val="0070C0"/>
                </a:solidFill>
                <a:effectLst/>
                <a:latin typeface="Helvetica Neue"/>
              </a:rPr>
              <a:t>operating</a:t>
            </a:r>
            <a:r>
              <a:rPr lang="ru-RU" sz="1800" b="1" i="0" dirty="0">
                <a:solidFill>
                  <a:srgbClr val="0070C0"/>
                </a:solidFill>
                <a:effectLst/>
                <a:latin typeface="Helvetica Neue"/>
              </a:rPr>
              <a:t>"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Helvetica Neue"/>
              </a:rPr>
              <a:t>целевого признака.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2D8E7A4-A652-4175-77D9-5C19C9A4B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4F0D1DA-322B-436F-BB7C-2C6820334CEF}" type="datetime1">
              <a:rPr lang="ru-RU" smtClean="0"/>
              <a:t>23.04.2025</a:t>
            </a:fld>
            <a:endParaRPr lang="en-US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A3CDE17-F213-FD10-9778-EEC59C2B4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17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18D4BB3-C20B-D06D-EC54-0051B8F3498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4" y="1677971"/>
            <a:ext cx="6470225" cy="4232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3942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DDA3A-6CF2-157F-6EED-1119F019A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F64636-0FED-4DD7-D734-52397C5C5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524106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</a:rPr>
              <a:t>Рекомендации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F6F87F6-BA17-B326-BFB1-B791012DBB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1840" y="1253765"/>
            <a:ext cx="10858968" cy="494907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ru-RU" sz="2400" b="1" i="0" dirty="0">
                <a:solidFill>
                  <a:srgbClr val="000000"/>
                </a:solidFill>
                <a:effectLst/>
                <a:latin typeface="Helvetica Neue"/>
              </a:rPr>
              <a:t>Портрет "опасной" для инвесторов компании</a:t>
            </a:r>
            <a:endParaRPr lang="ru-RU" sz="2400" b="0" i="0" dirty="0">
              <a:solidFill>
                <a:srgbClr val="000000"/>
              </a:solidFill>
              <a:effectLst/>
              <a:latin typeface="Helvetica Neue"/>
            </a:endParaRPr>
          </a:p>
          <a:p>
            <a:pPr algn="just">
              <a:buNone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Helvetica Neue"/>
              </a:rPr>
              <a:t>			Следующие признаки повышают вероятность закрытия компании (признаки расположены по убыванию влияния на вероятность закрытия):</a:t>
            </a:r>
          </a:p>
          <a:p>
            <a:pPr algn="just"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Helvetica Neue"/>
              </a:rPr>
              <a:t>компания существует </a:t>
            </a:r>
            <a:r>
              <a:rPr lang="ru-RU" sz="2400" b="1" i="0" dirty="0">
                <a:solidFill>
                  <a:srgbClr val="FF0000"/>
                </a:solidFill>
                <a:effectLst/>
                <a:latin typeface="Helvetica Neue"/>
              </a:rPr>
              <a:t>не более 2 лет</a:t>
            </a:r>
          </a:p>
          <a:p>
            <a:pPr algn="just"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Helvetica Neue"/>
              </a:rPr>
              <a:t>компания из </a:t>
            </a:r>
            <a:r>
              <a:rPr lang="ru-RU" sz="2400" b="1" i="0" dirty="0">
                <a:solidFill>
                  <a:srgbClr val="FF0000"/>
                </a:solidFill>
                <a:effectLst/>
                <a:latin typeface="Helvetica Neue"/>
              </a:rPr>
              <a:t>России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Helvetica Neue"/>
              </a:rPr>
              <a:t> (и тем более из Москвы)</a:t>
            </a:r>
          </a:p>
          <a:p>
            <a:pPr algn="just"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Helvetica Neue"/>
              </a:rPr>
              <a:t>компания работает в области </a:t>
            </a:r>
            <a:r>
              <a:rPr lang="ru-RU" sz="2400" b="1" i="0" dirty="0">
                <a:solidFill>
                  <a:srgbClr val="FF0000"/>
                </a:solidFill>
                <a:effectLst/>
                <a:latin typeface="Helvetica Neue"/>
              </a:rPr>
              <a:t>"</a:t>
            </a:r>
            <a:r>
              <a:rPr lang="ru-RU" sz="2400" b="1" i="0" dirty="0" err="1">
                <a:solidFill>
                  <a:srgbClr val="FF0000"/>
                </a:solidFill>
                <a:effectLst/>
                <a:latin typeface="Helvetica Neue"/>
              </a:rPr>
              <a:t>real_estate</a:t>
            </a:r>
            <a:r>
              <a:rPr lang="ru-RU" sz="2400" b="1" i="0" dirty="0">
                <a:solidFill>
                  <a:srgbClr val="FF0000"/>
                </a:solidFill>
                <a:effectLst/>
                <a:latin typeface="Helvetica Neue"/>
              </a:rPr>
              <a:t>" 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Helvetica Neue"/>
              </a:rPr>
              <a:t>(недвижимость)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83DB0B5-2577-CB10-A589-9B4D03B32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1878373-A85A-4676-928C-AA47F9F73311}" type="datetime1">
              <a:rPr lang="ru-RU" smtClean="0"/>
              <a:t>23.04.2025</a:t>
            </a:fld>
            <a:endParaRPr lang="en-US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1DDC4A0-FA93-4AF8-707B-CCBAD261E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550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C8239-47DE-9B53-CA6A-BE03F471C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E1B8F3-892F-058B-1C49-9A2236560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524106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</a:rPr>
              <a:t>Рекомендации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6726067-2C1B-B075-E9F8-DAC386E6C3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1840" y="1253765"/>
            <a:ext cx="10858968" cy="494907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ru-RU" sz="2400" b="1" i="0" dirty="0">
                <a:solidFill>
                  <a:srgbClr val="000000"/>
                </a:solidFill>
                <a:effectLst/>
                <a:latin typeface="Helvetica Neue"/>
              </a:rPr>
              <a:t>Портрет "интересной" для инвесторов компании</a:t>
            </a:r>
            <a:endParaRPr lang="ru-RU" sz="2400" b="0" i="0" dirty="0">
              <a:solidFill>
                <a:srgbClr val="000000"/>
              </a:solidFill>
              <a:effectLst/>
              <a:latin typeface="Helvetica Neue"/>
            </a:endParaRPr>
          </a:p>
          <a:p>
            <a:pPr algn="just">
              <a:buNone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Helvetica Neue"/>
              </a:rPr>
              <a:t>			Следующие признаки снижают вероятность закрытия компании (признаки расположены по убыванию влияния на вероятность закрытия):</a:t>
            </a:r>
          </a:p>
          <a:p>
            <a:pPr algn="just"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Helvetica Neue"/>
              </a:rPr>
              <a:t>компания существует уже </a:t>
            </a:r>
            <a:r>
              <a:rPr lang="ru-RU" sz="2400" b="1" i="0" dirty="0">
                <a:solidFill>
                  <a:srgbClr val="0070C0"/>
                </a:solidFill>
                <a:effectLst/>
                <a:latin typeface="Helvetica Neue"/>
              </a:rPr>
              <a:t>более 3-4 лет</a:t>
            </a:r>
          </a:p>
          <a:p>
            <a:pPr algn="just"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Helvetica Neue"/>
              </a:rPr>
              <a:t>компания из </a:t>
            </a:r>
            <a:r>
              <a:rPr lang="ru-RU" sz="2400" b="1" i="0" dirty="0">
                <a:solidFill>
                  <a:srgbClr val="0070C0"/>
                </a:solidFill>
                <a:effectLst/>
                <a:latin typeface="Helvetica Neue"/>
              </a:rPr>
              <a:t>Китая</a:t>
            </a:r>
          </a:p>
          <a:p>
            <a:pPr algn="just"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Helvetica Neue"/>
              </a:rPr>
              <a:t>компания работает в области </a:t>
            </a:r>
            <a:r>
              <a:rPr lang="ru-RU" sz="2400" b="1" i="0" dirty="0">
                <a:solidFill>
                  <a:srgbClr val="0070C0"/>
                </a:solidFill>
                <a:effectLst/>
                <a:latin typeface="Helvetica Neue"/>
              </a:rPr>
              <a:t>"</a:t>
            </a:r>
            <a:r>
              <a:rPr lang="ru-RU" sz="2400" b="1" i="0" dirty="0" err="1">
                <a:solidFill>
                  <a:srgbClr val="0070C0"/>
                </a:solidFill>
                <a:effectLst/>
                <a:latin typeface="Helvetica Neue"/>
              </a:rPr>
              <a:t>technology</a:t>
            </a:r>
            <a:r>
              <a:rPr lang="ru-RU" sz="2400" b="1" i="0" dirty="0">
                <a:solidFill>
                  <a:srgbClr val="0070C0"/>
                </a:solidFill>
                <a:effectLst/>
                <a:latin typeface="Helvetica Neue"/>
              </a:rPr>
              <a:t>" 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Helvetica Neue"/>
              </a:rPr>
              <a:t>(технологии)</a:t>
            </a:r>
          </a:p>
          <a:p>
            <a:pPr algn="just">
              <a:spcAft>
                <a:spcPts val="675"/>
              </a:spcAft>
              <a:buFont typeface="Arial" panose="020B0604020202020204" pitchFamily="34" charset="0"/>
              <a:buChar char="•"/>
            </a:pPr>
            <a:endParaRPr lang="ru-RU" sz="2400" b="0" i="0" dirty="0">
              <a:solidFill>
                <a:srgbClr val="000000"/>
              </a:solidFill>
              <a:effectLst/>
              <a:latin typeface="Helvetica Neue"/>
            </a:endParaRP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92F8E6-2F4F-FC2F-9521-96EB2DA66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1878373-A85A-4676-928C-AA47F9F73311}" type="datetime1">
              <a:rPr lang="ru-RU" smtClean="0"/>
              <a:t>23.04.2025</a:t>
            </a:fld>
            <a:endParaRPr lang="en-US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2BA0D44-6370-8011-50AC-C5DFF5370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0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91150-4861-5C2F-A84C-27F2D0FBD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C9F208-71B4-DAB3-7139-B8A7481E1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524106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</a:rPr>
              <a:t>Рекомендации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786544A-C4D1-DABC-35DE-A35C9BB94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1840" y="1253765"/>
            <a:ext cx="10858968" cy="494907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ru-RU" sz="2400" b="1" i="0" dirty="0">
                <a:solidFill>
                  <a:srgbClr val="000000"/>
                </a:solidFill>
                <a:effectLst/>
                <a:latin typeface="Helvetica Neue"/>
              </a:rPr>
              <a:t>Факторы, влияющие на успешность компании:</a:t>
            </a:r>
            <a:endParaRPr lang="ru-RU" sz="2400" b="0" i="0" dirty="0">
              <a:solidFill>
                <a:srgbClr val="000000"/>
              </a:solidFill>
              <a:effectLst/>
              <a:latin typeface="Helvetica Neue"/>
            </a:endParaRPr>
          </a:p>
          <a:p>
            <a:pPr algn="just">
              <a:spcAft>
                <a:spcPts val="675"/>
              </a:spcAft>
              <a:buFont typeface="+mj-lt"/>
              <a:buAutoNum type="arabicPeriod"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Helvetica Neue"/>
              </a:rPr>
              <a:t>Область деятельности компании-стартапа (категория). Категория </a:t>
            </a:r>
            <a:r>
              <a:rPr lang="ru-RU" sz="2400" b="1" i="0" dirty="0">
                <a:solidFill>
                  <a:srgbClr val="0070C0"/>
                </a:solidFill>
                <a:effectLst/>
                <a:latin typeface="Helvetica Neue"/>
              </a:rPr>
              <a:t>"</a:t>
            </a:r>
            <a:r>
              <a:rPr lang="ru-RU" sz="2400" b="1" i="0" dirty="0" err="1">
                <a:solidFill>
                  <a:srgbClr val="0070C0"/>
                </a:solidFill>
                <a:effectLst/>
                <a:latin typeface="Helvetica Neue"/>
              </a:rPr>
              <a:t>technology</a:t>
            </a:r>
            <a:r>
              <a:rPr lang="ru-RU" sz="2400" b="1" i="0" dirty="0">
                <a:solidFill>
                  <a:srgbClr val="0070C0"/>
                </a:solidFill>
                <a:effectLst/>
                <a:latin typeface="Helvetica Neue"/>
              </a:rPr>
              <a:t>" 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Helvetica Neue"/>
              </a:rPr>
              <a:t>наиболее успешная и с точки зрения продолжительности существования компании, и с точки зрения объемов ее финансирования.</a:t>
            </a:r>
          </a:p>
          <a:p>
            <a:pPr algn="just">
              <a:spcAft>
                <a:spcPts val="675"/>
              </a:spcAft>
              <a:buFont typeface="+mj-lt"/>
              <a:buAutoNum type="arabicPeriod"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Helvetica Neue"/>
              </a:rPr>
              <a:t>Регион компании-стартапа. Наиболее успешные компании из </a:t>
            </a:r>
            <a:r>
              <a:rPr lang="ru-RU" sz="2400" b="1" i="0" dirty="0">
                <a:solidFill>
                  <a:srgbClr val="0070C0"/>
                </a:solidFill>
                <a:effectLst/>
                <a:latin typeface="Helvetica Neue"/>
              </a:rPr>
              <a:t>Китая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Helvetica Neue"/>
              </a:rPr>
              <a:t>, наиболее рискованные - из </a:t>
            </a:r>
            <a:r>
              <a:rPr lang="ru-RU" sz="2400" b="1" i="0" dirty="0">
                <a:solidFill>
                  <a:srgbClr val="FF0000"/>
                </a:solidFill>
                <a:effectLst/>
                <a:latin typeface="Helvetica Neue"/>
              </a:rPr>
              <a:t>России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Helvetica Neue"/>
              </a:rPr>
              <a:t>.</a:t>
            </a:r>
          </a:p>
          <a:p>
            <a:pPr algn="just">
              <a:spcAft>
                <a:spcPts val="675"/>
              </a:spcAft>
              <a:buFont typeface="+mj-lt"/>
              <a:buAutoNum type="arabicPeriod"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Helvetica Neue"/>
              </a:rPr>
              <a:t>Продолжительность деятельности компании-стартапа. Наиболее рисковый период - </a:t>
            </a:r>
            <a:r>
              <a:rPr lang="ru-RU" sz="2400" b="1" i="0" dirty="0">
                <a:solidFill>
                  <a:srgbClr val="FF0000"/>
                </a:solidFill>
                <a:effectLst/>
                <a:latin typeface="Helvetica Neue"/>
              </a:rPr>
              <a:t>период до 2 лет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Helvetica Neue"/>
              </a:rPr>
              <a:t>. В этот период самая большая вероятность закрытия компании.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904F9EE-E7DD-F670-5B56-310685847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1878373-A85A-4676-928C-AA47F9F73311}" type="datetime1">
              <a:rPr lang="ru-RU" smtClean="0"/>
              <a:t>23.04.2025</a:t>
            </a:fld>
            <a:endParaRPr lang="en-US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72F104E-FA14-2EF1-669C-714A9DE67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915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D7C5B5-61DB-4111-AF7F-ACFB6DBAF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5"/>
            <a:ext cx="11029616" cy="2477925"/>
          </a:xfrm>
        </p:spPr>
        <p:txBody>
          <a:bodyPr/>
          <a:lstStyle/>
          <a:p>
            <a:pPr algn="ctr"/>
            <a:r>
              <a:rPr lang="ru-RU" b="1" dirty="0">
                <a:solidFill>
                  <a:srgbClr val="0070C0"/>
                </a:solidFill>
              </a:rPr>
              <a:t>Благодарю за внимание!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416332-AD73-4747-8CC6-61AFBCEFD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00225"/>
            <a:ext cx="11029615" cy="4355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latin typeface="Helvetica Neue"/>
              </a:rPr>
              <a:t>	</a:t>
            </a:r>
          </a:p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Helvetica Neue"/>
              </a:rPr>
              <a:t>	</a:t>
            </a:r>
          </a:p>
          <a:p>
            <a:pPr marL="0" indent="0">
              <a:buNone/>
            </a:pPr>
            <a:endParaRPr lang="ru-RU" dirty="0">
              <a:solidFill>
                <a:srgbClr val="000000"/>
              </a:solidFill>
              <a:latin typeface="Helvetica Neue"/>
            </a:endParaRPr>
          </a:p>
          <a:p>
            <a:pPr marL="0" indent="0" algn="ctr">
              <a:buNone/>
            </a:pPr>
            <a:r>
              <a:rPr lang="ru-RU" dirty="0">
                <a:solidFill>
                  <a:srgbClr val="000000"/>
                </a:solidFill>
                <a:latin typeface="Helvetica Neue"/>
              </a:rPr>
              <a:t>Контактные данные:</a:t>
            </a:r>
          </a:p>
          <a:p>
            <a:pPr marL="0" indent="0" algn="ctr">
              <a:buNone/>
            </a:pPr>
            <a:r>
              <a:rPr lang="ru-RU" dirty="0" err="1">
                <a:solidFill>
                  <a:srgbClr val="000000"/>
                </a:solidFill>
                <a:latin typeface="Helvetica Neue"/>
              </a:rPr>
              <a:t>Шакаева</a:t>
            </a:r>
            <a:r>
              <a:rPr lang="ru-RU" dirty="0">
                <a:solidFill>
                  <a:srgbClr val="000000"/>
                </a:solidFill>
                <a:latin typeface="Helvetica Neue"/>
              </a:rPr>
              <a:t> Милана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Helvetica Neue"/>
              </a:rPr>
              <a:t>E-mail: shakaevam@gmail.com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EE8777-3850-42C6-A2FB-8C59A2E11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E60767C-F5FC-4DE2-9828-8D2D49C41009}" type="datetime1">
              <a:rPr lang="ru-RU" smtClean="0"/>
              <a:t>23.04.2025</a:t>
            </a:fld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B52F434-860F-43A7-803A-A8A9AB1E8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67368"/>
      </p:ext>
    </p:extLst>
  </p:cSld>
  <p:clrMapOvr>
    <a:masterClrMapping/>
  </p:clrMapOvr>
</p:sld>
</file>

<file path=ppt/theme/theme1.xml><?xml version="1.0" encoding="utf-8"?>
<a:theme xmlns:a="http://schemas.openxmlformats.org/drawingml/2006/main" name="Дивиденд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998_TF33552983" id="{160FF37C-0DDC-4D2E-AEAD-253EF6364DF1}" vid="{EC99DBC3-C858-4F3A-82DD-48D686A36DB8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{4A2AF3D2-394C-4361-BD3D-AE10890891B7}tf33552983_win32</Template>
  <TotalTime>1782</TotalTime>
  <Words>1762</Words>
  <Application>Microsoft Office PowerPoint</Application>
  <PresentationFormat>Широкоэкранный</PresentationFormat>
  <Paragraphs>158</Paragraphs>
  <Slides>21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9" baseType="lpstr">
      <vt:lpstr>Arial</vt:lpstr>
      <vt:lpstr>Calibri</vt:lpstr>
      <vt:lpstr>Corbel</vt:lpstr>
      <vt:lpstr>Franklin Gothic Book</vt:lpstr>
      <vt:lpstr>Franklin Gothic Demi</vt:lpstr>
      <vt:lpstr>Helvetica Neue</vt:lpstr>
      <vt:lpstr>Wingdings 2</vt:lpstr>
      <vt:lpstr>ДивидендVTI</vt:lpstr>
      <vt:lpstr>Предсказание стартапов</vt:lpstr>
      <vt:lpstr>ОГЛАВЛЕНИЕ</vt:lpstr>
      <vt:lpstr>Цели и задачи исследования</vt:lpstr>
      <vt:lpstr>Параметры</vt:lpstr>
      <vt:lpstr>Дополнительные параметры</vt:lpstr>
      <vt:lpstr>Целевой признак «status»</vt:lpstr>
      <vt:lpstr>Параметр «category_list»</vt:lpstr>
      <vt:lpstr>Параметр «category_list»</vt:lpstr>
      <vt:lpstr>Параметр «category_list»</vt:lpstr>
      <vt:lpstr>Параметр «country_code»</vt:lpstr>
      <vt:lpstr>Параметр «country_code»</vt:lpstr>
      <vt:lpstr>Параметр «funding_rounds»</vt:lpstr>
      <vt:lpstr>Параметр «funding_total_usd»</vt:lpstr>
      <vt:lpstr>Параметр «lifetime»</vt:lpstr>
      <vt:lpstr>Корреляция параметров</vt:lpstr>
      <vt:lpstr>Модель для прогноза статуса стартапа</vt:lpstr>
      <vt:lpstr>Важность параметров</vt:lpstr>
      <vt:lpstr>Рекомендации</vt:lpstr>
      <vt:lpstr>Рекомендации</vt:lpstr>
      <vt:lpstr>Рекомендации</vt:lpstr>
      <vt:lpstr>Благодарю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рынка заведений общественного питания Москвы</dc:title>
  <dc:creator>79165175259</dc:creator>
  <cp:lastModifiedBy>79165175259</cp:lastModifiedBy>
  <cp:revision>76</cp:revision>
  <dcterms:created xsi:type="dcterms:W3CDTF">2020-10-21T19:24:36Z</dcterms:created>
  <dcterms:modified xsi:type="dcterms:W3CDTF">2025-04-23T13:28:54Z</dcterms:modified>
</cp:coreProperties>
</file>